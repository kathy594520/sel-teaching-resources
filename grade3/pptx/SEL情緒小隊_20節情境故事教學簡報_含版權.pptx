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 節：全課程導覽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 節：全課程導覽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 節：我是情緒小偵探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 節：我是情緒小偵探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2 節：我的情緒溫度計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2 節：我的情緒溫度計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3 節：情緒從哪裡來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3 節：情緒從哪裡來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4 節：停看聽，先讓自己冷靜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4 節：停看聽，先讓自己冷靜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5 節：我的情緒工具箱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5 節：我的情緒工具箱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6 節：把感受說出來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6 節：把感受說出來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7 節：專心聽，聽懂別人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7 節：專心聽，聽懂別人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8 節：每個人的感受都不一樣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8 節：每個人的感受都不一樣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9 節：換個位置想一想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9 節：換個位置想一想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10 節：友善的話語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10 節：友善的話語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11 節：一起合作完成任務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11 節：一起合作完成任務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12 節：意見不一樣怎麼辦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12 節：意見不一樣怎麼辦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13 節：發生衝突先處理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13 節：發生衝突先處理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14 節：道歉與修復關係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14 節：道歉與修復關係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15 節：做決定前想一想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15 節：做決定前想一想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16 節：網路與平板使用的好決定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16 節：網路與平板使用的好決定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17 節：挫折是學習的一部分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17 節：挫折是學習的一部分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18 節：欣賞自己，也欣賞別人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18 節：欣賞自己，也欣賞別人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19 節：我的社會情緒工具箱總整理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19 節：我的社會情緒工具箱總整理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20 節：友善班級行動發表會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20 節：友善班級行動發表會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來源：SEL情緒小隊_20節情境故事與40分鐘流程.md（依使用者提供教案整理）</a:t>
            </a:r>
          </a:p>
          <a:p>
            <a:r>
              <a:t>第  節：全課程導覽</a:t>
            </a:r>
          </a:p>
          <a:p>
            <a:r>
              <a:t>教學提示：依班級狀況調整討論深度，但維持 40 分鐘節奏。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562FA32-5C2F-43B9-AA8D-76F86A04EAA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24324A"/>
                </a:solidFill>
              </a:defRPr>
            </a:pPr>
            <a:r>
              <a:rPr sz="4350" b="1">
                <a:solidFill>
                  <a:srgbClr val="24324A"/>
                </a:solidFill>
              </a:rPr>
              <a:t>SEL 情緒小隊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428CC1-152A-45C9-9A37-CFF4685A7ECA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20 節情境故事教學簡報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A855E4-5081-4761-8659-CB76029C6489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5D6B7E"/>
                </a:solidFill>
              </a:defRPr>
            </a:pPr>
            <a:r>
              <a:rPr sz="1575" b="0">
                <a:solidFill>
                  <a:srgbClr val="5D6B7E"/>
                </a:solidFill>
              </a:rPr>
              <a:t>把教案中的每個活動，串成孩子能走進去的故事。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1DA6EDF-5CD6-4ECE-9C87-CCB6003FC6E6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23875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8270D0-6E9E-4BF7-9008-B2780CC11737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664A9"/>
                </a:solidFill>
              </a:defRPr>
            </a:pPr>
            <a:r>
              <a:rPr sz="1500" b="1">
                <a:solidFill>
                  <a:srgbClr val="7664A9"/>
                </a:solidFill>
              </a:rPr>
              <a:t>使用方式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F43EE9-832C-491C-8C26-6D9772347226}"/>
              </a:ext>
            </a:extLst>
          </p:cNvPr>
          <p:cNvSpPr>
            <a:spLocks noGrp="1"/>
          </p:cNvSpPr>
          <p:nvPr/>
        </p:nvSpPr>
        <p:spPr>
          <a:xfrm>
            <a:off x="1047750" y="3981450"/>
            <a:ext cx="4191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先講故事、再問線索</a:t>
            </a:r>
          </a:p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接著做小組任務</a:t>
            </a:r>
          </a:p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最後留下可行動的一句話</a:t>
            </a: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7239000" y="781050"/>
            <a:ext cx="3810000" cy="3810000"/>
          </a:xfrm>
          <a:prstGeom prst="roundRect">
            <a:avLst>
              <a:gd name="adj" fmla="val 4000"/>
            </a:avLst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66D17CA2-C92E-4A68-917C-232487BB7796}"/>
              </a:ext>
            </a:extLst>
          </p:cNvPr>
          <p:cNvSpPr>
            <a:spLocks noGrp="1"/>
          </p:cNvSpPr>
          <p:nvPr/>
        </p:nvSpPr>
        <p:spPr>
          <a:xfrm>
            <a:off x="7658100" y="4953000"/>
            <a:ext cx="3048000" cy="64770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F2423C-8BBA-428D-B08B-30770D9D5D5F}"/>
              </a:ext>
            </a:extLst>
          </p:cNvPr>
          <p:cNvSpPr>
            <a:spLocks noGrp="1"/>
          </p:cNvSpPr>
          <p:nvPr/>
        </p:nvSpPr>
        <p:spPr>
          <a:xfrm>
            <a:off x="7810500" y="51625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每節 40 分鐘｜5／8／12／8／5／2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7B7C74-8421-49C2-8984-B8F3F8A4387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依 20 節教案與情境故事整理｜教師授課用</a:t>
            </a:r>
          </a:p>
        </p:txBody>
      </p:sp>
      <p:sp>
        <p:nvSpPr>
          <p:cNvPr id="13" name="copyright-attribution">
            <a:extLst>
              <a:ext uri="{FF2B5EF4-FFF2-40B4-BE49-F238E27FC236}">
                <a16:creationId xmlns:a16="http://schemas.microsoft.com/office/drawing/2014/main" id="{295FA8F2-9FF7-49D3-A9DE-02016F95314C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49066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DFA3F913-94C7-4D25-92E2-8743FBBE2DF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課程脈絡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8D603B-74D2-4D97-85B3-7028098EAE1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故事讓 SEL 五大能力逐步連起來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169CEA5-2C70-4881-9212-FA38B1C83B8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88D7E54-FD22-4DD1-A772-AADED90B532D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809750" cy="2857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F890BAB-1E2D-4958-927A-D8D28256BF7B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81915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57026D-6364-4CB3-86AB-74F6BE4613F8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1–4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8DE6FB-2285-42C9-AC31-D474E44ECC54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4324A"/>
                </a:solidFill>
              </a:defRPr>
            </a:pPr>
            <a:r>
              <a:rPr sz="1575" b="1">
                <a:solidFill>
                  <a:srgbClr val="24324A"/>
                </a:solidFill>
              </a:rPr>
              <a:t>先看見自己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D61F75-2F75-46FC-8E75-6C8CA373A397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1381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辨識情緒、測量強度、先停下來</a:t>
            </a:r>
          </a:p>
        </p:txBody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8B35BD47-72E1-41B2-8DD6-1EA4B2A9ABCF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342900" cy="0"/>
          </a:xfrm>
          <a:prstGeom prst="line">
            <a:avLst/>
          </a:prstGeom>
          <a:noFill/>
          <a:ln w="38100">
            <a:solidFill>
              <a:srgbClr val="F26B5B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82BE8D2-E722-4C5C-A4CF-B116B4B1DDC4}"/>
              </a:ext>
            </a:extLst>
          </p:cNvPr>
          <p:cNvSpPr>
            <a:spLocks noGrp="1"/>
          </p:cNvSpPr>
          <p:nvPr/>
        </p:nvSpPr>
        <p:spPr>
          <a:xfrm>
            <a:off x="2838450" y="2266950"/>
            <a:ext cx="1809750" cy="2857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D1B7B13-423B-4B61-B014-B2CFB8E7A113}"/>
              </a:ext>
            </a:extLst>
          </p:cNvPr>
          <p:cNvSpPr>
            <a:spLocks noGrp="1"/>
          </p:cNvSpPr>
          <p:nvPr/>
        </p:nvSpPr>
        <p:spPr>
          <a:xfrm>
            <a:off x="3067050" y="2495550"/>
            <a:ext cx="81915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A5030C-0EB6-460B-BB81-2058DA45815D}"/>
              </a:ext>
            </a:extLst>
          </p:cNvPr>
          <p:cNvSpPr>
            <a:spLocks noGrp="1"/>
          </p:cNvSpPr>
          <p:nvPr/>
        </p:nvSpPr>
        <p:spPr>
          <a:xfrm>
            <a:off x="3067050" y="259080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5–8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3EE3D4-06D5-4FA2-8C0C-FC639CA8FBB8}"/>
              </a:ext>
            </a:extLst>
          </p:cNvPr>
          <p:cNvSpPr>
            <a:spLocks noGrp="1"/>
          </p:cNvSpPr>
          <p:nvPr/>
        </p:nvSpPr>
        <p:spPr>
          <a:xfrm>
            <a:off x="3067050" y="308610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4324A"/>
                </a:solidFill>
              </a:defRPr>
            </a:pPr>
            <a:r>
              <a:rPr sz="1575" b="1">
                <a:solidFill>
                  <a:srgbClr val="24324A"/>
                </a:solidFill>
              </a:rPr>
              <a:t>找到方法表達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E5FEEB-DADC-461A-BAE3-ED2FC795A3B5}"/>
              </a:ext>
            </a:extLst>
          </p:cNvPr>
          <p:cNvSpPr>
            <a:spLocks noGrp="1"/>
          </p:cNvSpPr>
          <p:nvPr/>
        </p:nvSpPr>
        <p:spPr>
          <a:xfrm>
            <a:off x="3067050" y="3790950"/>
            <a:ext cx="1381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情緒工具、我訊息、傾聽與尊重</a:t>
            </a: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29EB9CCC-48FD-468A-8763-822FEB53089B}"/>
              </a:ext>
            </a:extLst>
          </p:cNvPr>
          <p:cNvSpPr>
            <a:spLocks noGrp="1"/>
          </p:cNvSpPr>
          <p:nvPr/>
        </p:nvSpPr>
        <p:spPr>
          <a:xfrm>
            <a:off x="4648200" y="3695700"/>
            <a:ext cx="342900" cy="0"/>
          </a:xfrm>
          <a:prstGeom prst="line">
            <a:avLst/>
          </a:prstGeom>
          <a:noFill/>
          <a:ln w="38100">
            <a:solidFill>
              <a:srgbClr val="2D9C95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F54C0F9-65EB-4824-95C3-4C446DB5EA95}"/>
              </a:ext>
            </a:extLst>
          </p:cNvPr>
          <p:cNvSpPr>
            <a:spLocks noGrp="1"/>
          </p:cNvSpPr>
          <p:nvPr/>
        </p:nvSpPr>
        <p:spPr>
          <a:xfrm>
            <a:off x="4991100" y="2266950"/>
            <a:ext cx="1809750" cy="2857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DBDD4F66-370D-4DD8-AC01-6D5B1D71368B}"/>
              </a:ext>
            </a:extLst>
          </p:cNvPr>
          <p:cNvSpPr>
            <a:spLocks noGrp="1"/>
          </p:cNvSpPr>
          <p:nvPr/>
        </p:nvSpPr>
        <p:spPr>
          <a:xfrm>
            <a:off x="5219700" y="2495550"/>
            <a:ext cx="81915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7C75B5-6F8E-4E85-8277-27E57732E107}"/>
              </a:ext>
            </a:extLst>
          </p:cNvPr>
          <p:cNvSpPr>
            <a:spLocks noGrp="1"/>
          </p:cNvSpPr>
          <p:nvPr/>
        </p:nvSpPr>
        <p:spPr>
          <a:xfrm>
            <a:off x="5219700" y="259080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9–14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732B02-E075-4601-AC47-217C542C3948}"/>
              </a:ext>
            </a:extLst>
          </p:cNvPr>
          <p:cNvSpPr>
            <a:spLocks noGrp="1"/>
          </p:cNvSpPr>
          <p:nvPr/>
        </p:nvSpPr>
        <p:spPr>
          <a:xfrm>
            <a:off x="5219700" y="308610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4324A"/>
                </a:solidFill>
              </a:defRPr>
            </a:pPr>
            <a:r>
              <a:rPr sz="1575" b="1">
                <a:solidFill>
                  <a:srgbClr val="24324A"/>
                </a:solidFill>
              </a:rPr>
              <a:t>理解並修復關係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EFC058-DF39-417E-9D5E-B818C8296CAB}"/>
              </a:ext>
            </a:extLst>
          </p:cNvPr>
          <p:cNvSpPr>
            <a:spLocks noGrp="1"/>
          </p:cNvSpPr>
          <p:nvPr/>
        </p:nvSpPr>
        <p:spPr>
          <a:xfrm>
            <a:off x="5219700" y="3790950"/>
            <a:ext cx="1381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同理、友善話語、合作與衝突處理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FBE721BE-D9BC-4758-8632-E1E99FAB5A04}"/>
              </a:ext>
            </a:extLst>
          </p:cNvPr>
          <p:cNvSpPr>
            <a:spLocks noGrp="1"/>
          </p:cNvSpPr>
          <p:nvPr/>
        </p:nvSpPr>
        <p:spPr>
          <a:xfrm>
            <a:off x="6800850" y="3695700"/>
            <a:ext cx="342900" cy="0"/>
          </a:xfrm>
          <a:prstGeom prst="line">
            <a:avLst/>
          </a:prstGeom>
          <a:noFill/>
          <a:ln w="38100">
            <a:solidFill>
              <a:srgbClr val="F6C453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D7B821B-4AA5-4356-8193-531C8DC82C52}"/>
              </a:ext>
            </a:extLst>
          </p:cNvPr>
          <p:cNvSpPr>
            <a:spLocks noGrp="1"/>
          </p:cNvSpPr>
          <p:nvPr/>
        </p:nvSpPr>
        <p:spPr>
          <a:xfrm>
            <a:off x="7143750" y="2266950"/>
            <a:ext cx="1809750" cy="2857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D0954FC-5D78-43B4-ACA7-3DD960B6905D}"/>
              </a:ext>
            </a:extLst>
          </p:cNvPr>
          <p:cNvSpPr>
            <a:spLocks noGrp="1"/>
          </p:cNvSpPr>
          <p:nvPr/>
        </p:nvSpPr>
        <p:spPr>
          <a:xfrm>
            <a:off x="7372350" y="2495550"/>
            <a:ext cx="81915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5A29757-EA38-4EF3-8CA4-267CB7A3BDB4}"/>
              </a:ext>
            </a:extLst>
          </p:cNvPr>
          <p:cNvSpPr>
            <a:spLocks noGrp="1"/>
          </p:cNvSpPr>
          <p:nvPr/>
        </p:nvSpPr>
        <p:spPr>
          <a:xfrm>
            <a:off x="7372350" y="259080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15–18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F47F7F-1CFE-44AF-8051-41223321E162}"/>
              </a:ext>
            </a:extLst>
          </p:cNvPr>
          <p:cNvSpPr>
            <a:spLocks noGrp="1"/>
          </p:cNvSpPr>
          <p:nvPr/>
        </p:nvSpPr>
        <p:spPr>
          <a:xfrm>
            <a:off x="7372350" y="308610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4324A"/>
                </a:solidFill>
              </a:defRPr>
            </a:pPr>
            <a:r>
              <a:rPr sz="1575" b="1">
                <a:solidFill>
                  <a:srgbClr val="24324A"/>
                </a:solidFill>
              </a:rPr>
              <a:t>做出好決定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FED561-2871-4763-B3A6-3F260AB71989}"/>
              </a:ext>
            </a:extLst>
          </p:cNvPr>
          <p:cNvSpPr>
            <a:spLocks noGrp="1"/>
          </p:cNvSpPr>
          <p:nvPr/>
        </p:nvSpPr>
        <p:spPr>
          <a:xfrm>
            <a:off x="7372350" y="3790950"/>
            <a:ext cx="1381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決策、數位安全、面對挫折、欣賞彼此</a:t>
            </a:r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C90C4C7A-A88E-475B-861C-1CF3F0B31E46}"/>
              </a:ext>
            </a:extLst>
          </p:cNvPr>
          <p:cNvSpPr>
            <a:spLocks noGrp="1"/>
          </p:cNvSpPr>
          <p:nvPr/>
        </p:nvSpPr>
        <p:spPr>
          <a:xfrm>
            <a:off x="8953500" y="3695700"/>
            <a:ext cx="342900" cy="0"/>
          </a:xfrm>
          <a:prstGeom prst="line">
            <a:avLst/>
          </a:prstGeom>
          <a:noFill/>
          <a:ln w="38100">
            <a:solidFill>
              <a:srgbClr val="7664A9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A517D4D-15F0-42F0-ADF7-3C2BAEA0B5C8}"/>
              </a:ext>
            </a:extLst>
          </p:cNvPr>
          <p:cNvSpPr>
            <a:spLocks noGrp="1"/>
          </p:cNvSpPr>
          <p:nvPr/>
        </p:nvSpPr>
        <p:spPr>
          <a:xfrm>
            <a:off x="9296400" y="2266950"/>
            <a:ext cx="1809750" cy="28575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E2408B87-FE00-453D-A7A0-FA1AAE375C66}"/>
              </a:ext>
            </a:extLst>
          </p:cNvPr>
          <p:cNvSpPr>
            <a:spLocks noGrp="1"/>
          </p:cNvSpPr>
          <p:nvPr/>
        </p:nvSpPr>
        <p:spPr>
          <a:xfrm>
            <a:off x="9525000" y="2495550"/>
            <a:ext cx="81915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ED06D4-6C5F-497C-851F-7995AA1D6292}"/>
              </a:ext>
            </a:extLst>
          </p:cNvPr>
          <p:cNvSpPr>
            <a:spLocks noGrp="1"/>
          </p:cNvSpPr>
          <p:nvPr/>
        </p:nvSpPr>
        <p:spPr>
          <a:xfrm>
            <a:off x="9525000" y="259080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19–20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7670C3-0B0F-42A6-99B0-015F9D3EE7EA}"/>
              </a:ext>
            </a:extLst>
          </p:cNvPr>
          <p:cNvSpPr>
            <a:spLocks noGrp="1"/>
          </p:cNvSpPr>
          <p:nvPr/>
        </p:nvSpPr>
        <p:spPr>
          <a:xfrm>
            <a:off x="9525000" y="3086100"/>
            <a:ext cx="1381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4324A"/>
                </a:solidFill>
              </a:defRPr>
            </a:pPr>
            <a:r>
              <a:rPr sz="1575" b="1">
                <a:solidFill>
                  <a:srgbClr val="24324A"/>
                </a:solidFill>
              </a:rPr>
              <a:t>把方法帶回班級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4967F73-3245-487F-868D-393BA428FA93}"/>
              </a:ext>
            </a:extLst>
          </p:cNvPr>
          <p:cNvSpPr>
            <a:spLocks noGrp="1"/>
          </p:cNvSpPr>
          <p:nvPr/>
        </p:nvSpPr>
        <p:spPr>
          <a:xfrm>
            <a:off x="9525000" y="3790950"/>
            <a:ext cx="13811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整合五大能力，形成友善行動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6AD565-970E-4736-8636-99A00033859F}"/>
              </a:ext>
            </a:extLst>
          </p:cNvPr>
          <p:cNvSpPr>
            <a:spLocks noGrp="1"/>
          </p:cNvSpPr>
          <p:nvPr/>
        </p:nvSpPr>
        <p:spPr>
          <a:xfrm>
            <a:off x="1333500" y="5638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7664A9"/>
                </a:solidFill>
              </a:defRPr>
            </a:pPr>
            <a:r>
              <a:rPr sz="1575" b="1">
                <a:solidFill>
                  <a:srgbClr val="7664A9"/>
                </a:solidFill>
              </a:rPr>
              <a:t>每節都有「情境 → 線索 → 選擇 → 行動」的學習弧線。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350E6B-F9E1-4B65-BF7C-AAD08912C8EC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36" name="copyright-attribution">
            <a:extLst>
              <a:ext uri="{FF2B5EF4-FFF2-40B4-BE49-F238E27FC236}">
                <a16:creationId xmlns:a16="http://schemas.microsoft.com/office/drawing/2014/main" id="{F91C8746-09F9-4E9A-A646-7CC40A18A1B8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24073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E39FC91-7013-4D61-9DC2-CEAF751D0C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1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6EC482-375F-4C31-B89F-61E8143F387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我是情緒小偵探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8AEB62BE-093B-46E0-9B11-4C5B3588A7B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0911EA7-199D-458C-9988-F634035490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4D81B0-4996-40A2-BF72-495C5B81CCC4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26B5B"/>
                </a:solidFill>
              </a:defRPr>
            </a:pPr>
            <a:r>
              <a:rPr sz="1800" b="1">
                <a:solidFill>
                  <a:srgbClr val="F26B5B"/>
                </a:solidFill>
              </a:rPr>
              <a:t>故事｜彩筆不見了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E8B6C6-7E8F-4C7E-A2AB-BC89E37DFA0D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小安準備畫海報，卻發現最喜歡的橘色彩筆不見了。他的臉熱熱的、手握得緊緊的，以為是小凱拿走；後來才發現彩筆卡在自己的書包夾層。小安發現，同一件事可能先讓人緊張、生氣，最後又放心。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5472DF-2FBD-4D62-BDAD-34CF20E97814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74CEC9-83FE-4ED0-BDB5-AFBC1C5367FA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B8F91F0-F9EC-4515-A44F-4D430454327A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BFC3DC-7EC3-4F02-9AB1-2E2D77F3EDDB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338773-B498-43E4-9B00-70A0A2978EAC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能說出至少 4 種情緒，知道每種情緒都可能有功能，並願意觀察自己的情緒。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151661C-6D23-46B9-A3FE-0AA01914C67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F94E0064-7345-46AF-9937-008774A046EE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7797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A4300E86-E3A5-468D-96A7-DB53C55F5B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1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B43273-F5BF-41A8-8C33-A018E5DFC1F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56AFAFE9-1435-4D3D-AE28-1319C6EA98F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47A96D-7C7E-43C0-945C-7336D02AAFA1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3A954B-8565-4A6E-82A4-188E7A2F09EE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10A0F2-95C6-423D-B658-8661928D15CE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1B2A88-A560-4C1E-A38E-437D34212BAD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86E91D-4C7B-41BE-BCA6-F6277DFF94FE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95D0E36-B5E8-4941-A919-D19C7682214C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E557F6-FA12-435E-B4D0-404841092157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B87679-975E-4C63-9A64-DD57E545DE1D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看表情猜情緒平板遊戲，找出角色的情緒線索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F9DD2-0923-4E38-AAEF-969FBD67769D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350C280-CE56-41FD-8A08-8542ABA7EEC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7FB5284-CA90-4879-A2C4-96F9B97B8546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DD636D-6D83-4CD3-AEE6-B5D61262F53A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3B0EB9-4E5B-43FC-8102-662F3677D54F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教師整理喜、怒、哀、樂、緊張、害怕、失望等詞，放上情緒溫度計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C4EDA4-FC07-46F8-8432-E6BB5C804938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55B6D74-5769-4739-ACCC-955723450A95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0D63F65-EC5B-4B2B-964C-C6323C78223D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FCB835-C766-4321-B3EF-8A446B3CB30E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EABC51-F396-4A5A-AAC3-964A0021A1EB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小組分類情緒卡，討論「什麼時候可能有這種感覺」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188423-D8E5-4E81-80A4-A7339786BB8E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33F424E2-72E1-4AD5-9639-1770B02F3340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F791276-3E37-4BD1-96C2-FF3ECC09285F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932A96-43AD-49BF-86DA-AAFBCA738C8F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968DF3-0F6A-4147-BB8A-40423156266E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各組選 2 張卡，用表情或動作演出，其他組猜情緒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198926F-573C-4377-B958-4603F9108A2A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94165BF-064E-4BBD-BEEB-7A3CF510AD5F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7E610E0C-1217-40A2-BE9F-BFAD15C53858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6CDDBB-4EF4-4868-921D-DE421DC35F04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20976D0-A24C-489A-B161-927CB5B28572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分享最近一次有類似情緒的時刻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BF34ED-5350-4671-8E3C-3DC8E43B2108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90A30890-65AB-4FFB-9DCE-82D7FABEFE7A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4CEDAAA-D7BC-4516-B222-F535167B7869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D9FC23F-F661-4435-BA4D-DD33631FCFAC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C818CD-CF68-4BC5-A1DD-CF1E710DFA5C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完成「今天我的情緒是＿＿，因為＿＿」小卡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50A367-BB9E-4DEA-BB73-3A9B8F38A528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E7ECE15-8520-457D-BA1B-D06457E3DA3C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B3E46F-76C2-4E09-BF88-409800DF2A3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6184179A-56C9-4618-B85D-2B254155F3EC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97137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55CCB2B-8540-466C-9ABF-0DBA81F75B6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2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6E2192-98D0-472D-B1FC-7ACD9307C8B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我的情緒溫度計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539B0E19-FE08-49F8-84E2-C4762A4A99C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BDE8F89-C737-412F-B1AC-13314E9678E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310376-9CB4-4852-94FD-B94A338FC28F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D9C95"/>
                </a:solidFill>
              </a:defRPr>
            </a:pPr>
            <a:r>
              <a:rPr sz="1800" b="1">
                <a:solidFill>
                  <a:srgbClr val="2D9C95"/>
                </a:solidFill>
              </a:rPr>
              <a:t>故事｜比賽越來越緊張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D48056-F421-4AFE-8791-9AADA3E132AE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小晴參加接力賽，一開始只是有一點擔心（1 級），聽到同學加油後變得緊張（3 級），接近交棒時心跳很快、手心冒汗（5 級）。她學會在溫度升高前看見身體訊號。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262836-8350-4736-A1F1-548F60F3E7BC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9792B0-7DEF-498C-B849-842E88AA4B34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0AA5A9F-2521-4624-BDC3-50E7E51DC948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091E2D-DF92-4F6C-80BC-81DCE76BF133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129B4B-2695-4B70-8462-8B2CFC81CEA7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能用 1 至 5 級描述情緒強度，察覺情緒變化。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CC61125-B480-4D50-9D6D-367AF8DD87BA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7025008F-F201-42D3-A7ED-F1EDBE635AE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0083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CABEB1A6-E45B-4F14-9492-88FA5AC4221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2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7A5760-CCD6-401C-B451-689265E86B8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4B99E31E-740F-49B3-B2A1-9E6AB726769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279548-151D-474D-AFFB-AE1EE3632702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B1C8C6-97C6-4B2C-98FD-AF60BADB015D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27B432-1865-4AA5-B4BF-18D171081B49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D9435C-89E1-49A2-A3D2-CB836B1CF9F7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6CAEB1C-947D-4BE3-B3B6-54C268E1578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5C1B181-3E41-4FA8-B02B-1D657EBD7B12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9ACA9C-0C04-4628-9452-A130FD9DFE9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6FC46-B105-45DD-A202-2FE6BB6DB51E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平板判斷不同情境的情緒強度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16501A-9681-4253-AFFF-24FE105BEBCF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817C8A4-7373-4357-AEC3-BEA1785B282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56CBCE4-ED34-46BF-8D69-78C61B1CF78D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DB37CF-8109-4350-9ACE-5094111C2F62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BB33AA-7214-44CD-9DA2-0B44B23EEFE1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教師用 1 至 5 級示範「小小不開心」到「非常生氣」的差異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1B8DD8-7C80-4E0F-8D4C-7E8E684FC367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64D5B4EB-C500-400F-97CB-07F474EC4701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00837AF-7186-4F70-88C9-6236323F6561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4F4EED-EC6C-4959-9106-F67E91AD8240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02E9E9-65AD-4A5F-87A5-B5BE4B377AC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小組為情境卡貼上溫度等級並說明理由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7F5792-98FC-443C-BBBE-22379C27BEAF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40470C-9BE9-49D6-8139-8F2EE2EB9EB1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1B78ECE-53B6-4E82-BE9D-0BE0660664AC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755093-801C-4F17-B2AA-15E0424D80E3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FD278E-023A-45B1-82DE-6AD1B76A8E22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各組發表一張情境卡與判斷依據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96F9470-E92B-40F7-9260-BC13B00A37E0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997BD3BB-A9BD-43B0-86F7-87D094BC3CC1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B1424C68-DBE4-4E61-B985-B629FA56382C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F3E800-8ECC-4D2F-A9DE-B13C6EA47964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DB1FDE9-2817-4D04-B734-3C4681E6DE35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討論溫度升高時自己的身體訊號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D8AC5F9-483E-4198-9377-B7F63DE50069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F4C432B3-C591-4E75-B847-B1086298AA04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6E645CC-1288-44C1-A5F2-29DEBA4CB567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1E0A512-6DF3-4FB6-8B6A-367926BEB64B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C034DC-2F95-457A-A6DA-025FF684623F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寫下自己的情緒警報訊號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CEC1CEB-A891-4846-990F-B041F634E172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84D102-6ED4-438A-AD51-29DE70BF22BC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1C0B56C-E19C-4A4C-9FBE-356C5E7B067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C7313063-06FE-4A7B-9C61-656751C12CD0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30233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62B89EB-E8F6-487C-9B3F-2588CB27FF6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6C453"/>
                </a:solidFill>
              </a:defRPr>
            </a:pPr>
            <a:r>
              <a:rPr sz="1050" b="1">
                <a:solidFill>
                  <a:srgbClr val="F6C453"/>
                </a:solidFill>
              </a:rPr>
              <a:t>第 3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9F13C0-7CDF-46C5-A0D7-74A772983A3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情緒從哪裡來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9A3F5780-868B-4595-B8E5-16F2EC54AC2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6C453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1653433-6EC0-4D4B-8413-A2471CD4739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51A603-F12D-4E5D-A11C-8690C60E4F7D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6C453"/>
                </a:solidFill>
              </a:defRPr>
            </a:pPr>
            <a:r>
              <a:rPr sz="1800" b="1">
                <a:solidFill>
                  <a:srgbClr val="F6C453"/>
                </a:solidFill>
              </a:rPr>
              <a:t>故事｜下雨不能去公園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3DE91-DD42-451D-A76D-5F91C02DC90F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放學前突然下大雨，不能去公園。小明想：「今天都泡湯了！」覺得失望，回家把門關上；小莉想：「可以在家玩桌遊。」覺得期待，主動找家人一起玩。事件相同，想法不同，情緒和行動也不同。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4724E9-4889-447E-B273-686B78D8CCCB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51A176-B5E5-45D0-8E0E-70624E073429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272CCB5-0B83-4FD2-AF1B-0149A95A3819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AE2C30-7B82-4375-92E3-D6EC74E90886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7529EB-6218-4607-A6FA-A71F29ECE80E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能分辨事件、想法、情緒與行為，知道同一件事可能引起不同感受。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D2207DF-AE4A-42C7-A3E2-EF19903C9C5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C35AAB50-CB97-42A4-A677-1FF3079DE0EC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63662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2BF23BF1-E566-4E67-AB89-D54AD1A447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6C453"/>
                </a:solidFill>
              </a:defRPr>
            </a:pPr>
            <a:r>
              <a:rPr sz="1050" b="1">
                <a:solidFill>
                  <a:srgbClr val="F6C453"/>
                </a:solidFill>
              </a:rPr>
              <a:t>第 3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1DCB50-F728-4E22-93B4-047072C9FAB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01DC0B5E-86C5-49FD-B1B4-CF2B0FA26FD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6C45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4B088B-C13C-49FA-9BB9-95CE41B8F88F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B70E23-3468-4378-A4E8-44E7A61DE2A1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EDF266-1A86-401A-8443-A5159DAA0F8F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790658-9DB8-4624-BA48-3A8B90CDF266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5E7CC60-1752-4016-ABAB-7942DC2A542D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F222232-D42D-4877-8D79-AE2DE0D5006D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BA030F-EA60-4EAF-9E20-2940D46F5239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9837B5-D0AC-43FC-B7F0-88B48017EFC5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平板配對「事件與可能情緒」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64DDC5-2126-4BFD-BB91-75FBF0EA6062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EB43888-9502-49B7-B69B-049C0792684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10DC617-DEF4-447F-840C-EAD2B3FD680B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77BCA1-0E90-4895-9746-C4C700EC06DA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C5CDA8-7C24-4BAA-8208-20473807E71A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教師用四格圖示範事件－想法－情緒－行為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FA3E1E-E702-4D66-B57B-EEB1B98CDDFD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807E255-FAC6-452E-8233-225466EED60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5131456-4B3C-4411-AA4E-B44F6E3841BB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987722-F30E-4413-932B-B2769E797333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8D3A34-58E5-462F-BC9B-B0C74CE58399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小組完成校園情境四格圖，找出兩種可能想法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895172-DB7F-4622-A6BE-8352667A4752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C8A8F95-8576-42EB-9CC1-3D9BA536733F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9EDA2A4-93E4-46D1-92FB-4770880629B9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688C3D-9FAA-489C-9721-B42A152B9098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43F903B-50A3-481A-B7F6-DFD38EAE547F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發表兩種想法及不同結果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290379-36AB-4A40-8990-565FEEFBC4B4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7E0287F-F095-42DE-B68D-5E671070BFD8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0EB8C998-368C-4C7C-B670-6207317A05D8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F79EF1-1A86-4BA9-841E-F69C6075F68A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A53304-E3EC-4E3C-87C9-1CA07F74F8EB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討論改變想法能否幫助改變心情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FC9BD0-F01D-4103-A4DF-58EB876C9CAB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AE7A2B8F-0C8C-4F31-988A-7375C4A12BE9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7E2AF7D-D0FD-496B-81F3-73C473CB9BBE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B429EF-0BE1-4983-8F9F-7ABF262C9165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631E7A-A4B6-47CC-B8CA-B0BB4C9406E0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完成「我可以試著這樣想＿＿」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1D7FBD6-F80A-4B07-9A6B-706694FBE6BC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6D2FD08-04C3-4310-A799-78B182411F9C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5AE50B5-ACE1-4BCF-93A4-0BA11F8E02A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A2036256-143F-4F15-8C4B-AF4479CBBEBB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34453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69ACBBC-03C1-47CC-A503-7FF951C67EF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664A9"/>
                </a:solidFill>
              </a:defRPr>
            </a:pPr>
            <a:r>
              <a:rPr sz="1050" b="1">
                <a:solidFill>
                  <a:srgbClr val="7664A9"/>
                </a:solidFill>
              </a:rPr>
              <a:t>第 4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D2E106-E3A5-4AFC-BF95-D6014DB3612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停看聽，先讓自己冷靜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C73C298-FFF7-42D6-83C5-FF13CF172DF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7664A9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A03F0AF-E944-4F36-B939-63E963B7048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0497E9-FEE9-4708-A7F0-8287BD890673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664A9"/>
                </a:solidFill>
              </a:defRPr>
            </a:pPr>
            <a:r>
              <a:rPr sz="1800" b="1">
                <a:solidFill>
                  <a:srgbClr val="7664A9"/>
                </a:solidFill>
              </a:rPr>
              <a:t>故事｜鉛筆盒被撞倒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8AACFF-81BB-4389-A465-27FC07169596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小傑排隊時被同學撞到，鉛筆散了一地。他差點大聲罵人，卻先停下來，看見對方也被後面的人推到，聽見對方說「對不起，我很急」。小傑深呼吸後，決定先把鉛筆撿好再說明感受。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3102FA-EF00-42C9-B298-081A4244311D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99916A-C316-4E84-8B48-EB9996C05284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BB797FB-772F-409F-9639-BDFEFE437E43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4A77BA-9A47-48B2-A4DF-E91091725CEC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0843DC-C23F-4900-B432-E5F205F81702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能在情緒升高時使用「停、看、聽」三步驟，避免立刻做出傷人的行為。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A2A662E-250E-43B1-BBD3-78F16EE5025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5066B4CB-7C69-4E77-9A33-EACA37052512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63606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13A65D20-F172-40F6-BA2C-F8F4F1ED87E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664A9"/>
                </a:solidFill>
              </a:defRPr>
            </a:pPr>
            <a:r>
              <a:rPr sz="1050" b="1">
                <a:solidFill>
                  <a:srgbClr val="7664A9"/>
                </a:solidFill>
              </a:rPr>
              <a:t>第 4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17BA34-769C-411A-8009-46A23C98FD0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9BB0811A-377E-4168-BAF5-E7AE87D4CA5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7664A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13F405-6C32-4B01-8CD0-B7E385E890B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105C73-1CC1-40C7-A6E6-E9B39DEB2E06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10A47C-4FB8-42FE-8BB4-13948F5D67B7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71A68C-C8EF-4090-8FE7-BC9B1F031A93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04F00AE-C37B-46CC-AD33-36D5EFA24D26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8FD5BCA-A0A2-438B-ADE5-0AAD6AB80895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067F3E-6DEE-4F0E-B37B-E2E9D1ACD759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37E75D-4110-47BA-BAF1-D35A8DB0BBC3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平板選擇「衝動反應」或「先停一下」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2470F7-CB20-4D0C-B80C-F5D2D64AA62B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FF1AF87-D3F5-4596-9A24-7119329C8898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414B9D5-7E6C-4E0F-8EA5-D7518C9A9B23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5AD0A0-4467-4329-BAF5-BD3897B6E968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D7F647-05F4-477A-A515-6D4088C9E53E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示範深呼吸、數 5 秒、雙手放桌面等冷靜動作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0D93B2-4C8E-4FF4-BCF1-5E8E76FF36F1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91C98E4-02B2-42AA-AF7F-40F6F623C073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A5860340-7665-4283-B760-CF3A964CBA77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CD027A-69F1-4250-99E1-FF875FC1A0EA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130AED-D8F8-48F2-A9AF-122293BB6DF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小組設計「情緒紅綠燈」應對卡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186E32-956B-4652-8A98-516ECC72754B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7A85B96-C2C0-4D37-A965-9661CA94EADD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E347044-7451-4AE1-8AAB-766BBC70616A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AD195F-5D32-4382-B5B4-14DBB1C27A62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DFA48C2-3866-4F17-B730-CBFAEE78B583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演出先冷靜再處理問題的情境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3EC642-B323-4A8B-96E4-E4817ACEAAD7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FAC474D-D93A-4330-844D-B34C075B0C31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73741FF1-34F5-4231-A495-89017CA182AB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D946FC-AED5-489F-9A95-441B368AEDA8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774BF18-718B-40FC-8EEC-374AD3DFBD1A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分享最容易做到的冷靜方法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67A4B1-A7D2-49F2-BA88-6846E7025B04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23D74D7D-FF9F-47D7-9BE1-CCF366156B2D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BA1686AC-6207-4BA5-A666-F93D59104EB0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3967A5-FE46-401E-B9E9-D6DA5BEB9FC3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4EA4A7A-2407-450E-A822-29FB66BB1C40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選定個人「我的冷靜按鈕」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217442-53F0-47E9-9587-DA9A24835D86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774C00-0D94-4561-A261-7A5E7A340189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0640B7-69EB-46FE-8FD5-345174FA9FD2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4F5302B6-8714-4C94-BB5B-0A7AC0BC372A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67595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5054216-785A-4B3B-9DB7-CCFFF649133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AA9D6"/>
                </a:solidFill>
              </a:defRPr>
            </a:pPr>
            <a:r>
              <a:rPr sz="1050" b="1">
                <a:solidFill>
                  <a:srgbClr val="5AA9D6"/>
                </a:solidFill>
              </a:rPr>
              <a:t>第 5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216AC9-9F10-4A1F-991B-2DFF0C4A725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我的情緒工具箱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46318D3-105D-4EC2-8FFB-7F2C0556338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5AA9D6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441552-D8B0-434E-A7D1-18F798393DB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C1A299-3E1F-49BA-9F64-8509C439C01A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AA9D6"/>
                </a:solidFill>
              </a:defRPr>
            </a:pPr>
            <a:r>
              <a:rPr sz="1800" b="1">
                <a:solidFill>
                  <a:srgbClr val="5AA9D6"/>
                </a:solidFill>
              </a:rPr>
              <a:t>故事｜海報做不下去了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180605-BC6B-4F48-BB34-B3E0921ADF2C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小組做海報時，大家一直改顏色，阿澤越來越生氣，想把紙揉掉。組員提醒他可以先喝水、到安靜角落、做三次呼吸，再回來討論。阿澤發現，不同情境可以選不同工具。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164064-9AC3-448F-87B3-3BB10B10786C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6866F4-EDEB-4C59-B3DC-7C0B83E89FC1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9C80952-9CFE-4504-8867-059EB46A9F19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A00807-5BB4-4585-9F0D-E3B85E0ABB15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C71357-DB27-43BC-B8F3-770B83FD14B4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能選擇適合情境的情緒調節方法，理解不同方法的效果不同。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97C9508-01CA-4E66-B346-8FADD4AA8DA1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F0C73E30-A2A6-4D8E-9CBD-082E41D602EE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8147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3ACA9CDA-ED25-4B70-AA35-E1B5733DBCF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AA9D6"/>
                </a:solidFill>
              </a:defRPr>
            </a:pPr>
            <a:r>
              <a:rPr sz="1050" b="1">
                <a:solidFill>
                  <a:srgbClr val="5AA9D6"/>
                </a:solidFill>
              </a:rPr>
              <a:t>第 5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98470C-8EB0-4B4F-8703-BC99C953F37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7807790-FB1F-4B69-9968-EF976058333A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5AA9D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781FAD-3E4C-4AF5-A896-D34CEAEB2A7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C3BD02-E323-4743-958D-B49D7B4F94AA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DD0874-93A6-4DCD-BF9A-4475698A6AF1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193B60-F628-4316-856D-B3F1977ADD30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324CD91-9E02-4192-A6E8-1CE870F5B97B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6374E81-2D97-41D0-8C66-029B1181E35C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F3C6C8-55CF-4F36-9913-5DABB53CB0FC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7AF324-BAD5-44A2-846E-5129EF25CA77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平板進行「情緒工具配對」遊戲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F65DF5-2913-447C-8A75-1E49F5B6131D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C94BAFC-C211-4677-919B-5B3EB01A3CC1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955D529-0414-4803-A352-0D0C17C980C2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DA6869-519B-4AA6-9B0C-5F03692633AD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97F431-FA4B-4585-8A89-2A8699507018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介紹工具箱概念與安全使用原則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C5DA4E-DA88-443E-AAC5-A7E4ED51A2F1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C5C094A-8444-42BD-8CB5-96322A6D49AE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589743C7-03BE-4089-AF34-660D9F1F619F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3B958A-6949-4348-AA04-DE05BAE46EDF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0EF2A2-3375-43D2-BB27-9612CA1427CB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把呼吸、喝水、運動、找人說、畫圖等方法配到情境卡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2F18D-A7C2-48AF-A895-5646889B55F5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D1588AF-C931-42ED-89C3-B8C0693195B7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638CABB-F562-465F-9448-0C1057CA9585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BFAF26-1220-42A3-88E3-960AA48B1AB6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7922BE-CEFC-4845-9B0E-9B2352C8E71D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發表一組配對，接受替代方案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50E332-3CDA-4962-9984-89352E17B6D2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FC56382-2AB1-4BD3-B33A-0CA0BE845FD7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23C81917-DAF9-406C-B253-7A3958AF82C8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0B324F-61BB-47EE-9D6F-A391BE7BEC87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499ED1-9A2A-4ACC-A9C5-E47E013103A5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票選最想練習的方法並一起操作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3A9271-09C1-40F6-839B-69516F00BE25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FD6E6B9-A177-4DA6-BB97-AAB137E3E7D3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A9AFAC31-EFBD-4967-A06F-BCA919F90C41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47AAC4-BA7F-443C-BFB6-F1CA9DCAFF74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6DD792D-B6A2-43BE-8EA6-01D54F8918AC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完成個人情緒工具箱清單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C9C365-3F8D-451E-B568-B8FD14411504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AB572D-7A10-4BF0-B6BA-B29B7A3216B1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6D34770-7DA8-4DA3-ABEE-2299FD7FCF7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00B5B0EB-BD39-49B3-A825-414B4C8D37AE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839176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F2BA28D-1670-459E-8AE9-21AD49AF6AC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9DCC8"/>
                </a:solidFill>
              </a:defRPr>
            </a:pPr>
            <a:r>
              <a:rPr sz="1050" b="1">
                <a:solidFill>
                  <a:srgbClr val="A9DCC8"/>
                </a:solidFill>
              </a:rPr>
              <a:t>第 6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F4B8A6-55CF-4E1B-ADAC-A3A093C2CDB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把感受說出來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565E4223-D482-4837-A036-9F89EEB439C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A9DCC8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D96157C-93FD-4010-B383-47B9162590F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C6CB94-0768-4FF3-8FDF-7B1358BF2158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A9DCC8"/>
                </a:solidFill>
              </a:defRPr>
            </a:pPr>
            <a:r>
              <a:rPr sz="1800" b="1">
                <a:solidFill>
                  <a:srgbClr val="A9DCC8"/>
                </a:solidFill>
              </a:rPr>
              <a:t>故事｜借走的彩色筆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EA1D90-BBD0-4FEA-9638-F87ECB8E5C5D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小妍借給同學一盒彩色筆，對方下課還沒有歸還。她原本想說：「你都不還我！」後來改成：「我覺得有點著急，因為下一節要用；我希望你現在和我一起找找看。」對方也比較願意幫忙。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DC6019-A2FF-4CD2-BAF7-ABBA64FC8E49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17847A-8951-4C6A-8268-F82E78294DF7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2C8840C-ACC6-44E6-A3FB-252131EF812F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21CA47-7319-4FF2-AE2D-23B0B4425488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521967-FEEE-4DF6-BB0B-85AF9D2391C4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能用「我覺得……因為……我希望……」表達感受與需要。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A71E2EF-6C74-434C-8105-8A7F0555186D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9BA28927-F02B-4781-BC0F-27D7F094DABB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400953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52DF0D2F-799B-420A-8E92-B010EC9625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9DCC8"/>
                </a:solidFill>
              </a:defRPr>
            </a:pPr>
            <a:r>
              <a:rPr sz="1050" b="1">
                <a:solidFill>
                  <a:srgbClr val="A9DCC8"/>
                </a:solidFill>
              </a:rPr>
              <a:t>第 6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8861B2-A8A0-4BCC-9BC0-0912F1BAD63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7A323ED-C9A3-419A-88FA-E2A598730BC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A9DCC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8DF40C-B01A-4010-A2E5-67D540D58DEE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91ED58-A04B-4D1C-9F33-6BC07A00C656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17B65A-19CE-4803-A46F-9460658DD48D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3FD19B-EB32-4D13-B243-744F87D609C7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3C53757-50AE-4417-90F2-0D554B8ABDF0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4AC059F-6698-46F2-A817-14EF22BBCD2B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382DDF-D195-4AF2-BBB9-E6652D0C7140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74B230-7B98-4BAF-ADB1-0E1CBB601BAB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平板判斷哪一句是我訊息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20A077-509F-4C2D-9932-0E6C5C797C70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E8C2DC8-80D9-4CC5-8BF1-7D7BF1C75917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C9B241A-BCBC-40A1-A479-33B5DC95D883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31C9CE-4456-4B36-AAFE-59ED12ADA699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1B2FBA-AD7A-4CFF-AB22-5F2A093D9394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把責備語「你都不借我」改寫成我訊息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585D33-C631-4F89-B8F2-2067A5F46412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38EE473-AC48-4992-82C2-23A311676E0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CB1A5A2-FF6C-4780-AFCC-47D41A4A28C7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2D0829-B4BF-4FF2-AC67-E17024FB48AE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9D570A-A179-426D-97FD-6CDABD8153F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小組將 3 句責備語改寫成「感受、原因、希望」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10D1B8-2306-4AFF-9C9B-559BD54026EF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0A176B0-C53B-49B6-94B7-354186BA51D6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4425FF3-7DC4-4541-AC54-04193E5928B3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52A09BC-37E6-4A8C-B420-B3E525D375B7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B566E8-67C7-4749-ABC5-EB112E8A02DD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發表改寫結果並練習說出來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69F6E4-AC08-4C82-8C62-8ADA9A365684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72740BC-4E5D-4100-8DAB-85D68EFD5F85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8DEAB4E-110C-40D5-AB03-1AEF988EFDA9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0FF2596-E5C9-4CE6-9316-52A11EC5D6DE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3A5F80-361E-4163-A6D0-014BEA3FD691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討論語氣、表情與內容如何配合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7C5E84-BC54-4B52-B411-F8B3D0C3A5D8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CF087F1C-4162-4C4F-8359-176F8CC958AA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D577F5B0-1B02-4ACD-80DF-F6DB3480CB2F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C4A482-F194-4FAE-8250-1A61BA5D5F69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477F5A-C86D-4306-813A-E3DD113095EB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寫下一句今天想使用的我訊息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9A66654-473B-4C38-AF9E-EACF63998371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B41323-DCAC-427B-9E99-301997F2DB10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B9D7EE-00F8-4B39-B738-96F44F76CBF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2E878BD8-5742-416C-8E80-FEA9FC32C991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823767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EA56409-FCF2-4091-8C84-9C819F49384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7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243922-DD02-42F1-A266-45475DC347C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專心聽，聽懂別人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1D2D2551-67A7-44D9-B638-FBAA1DFC685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A108F6A-331B-4048-ADAB-03CDA198695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A0F319-C5E3-4927-B469-C480F3B6E692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26B5B"/>
                </a:solidFill>
              </a:defRPr>
            </a:pPr>
            <a:r>
              <a:rPr sz="1800" b="1">
                <a:solidFill>
                  <a:srgbClr val="F26B5B"/>
                </a:solidFill>
              </a:rPr>
              <a:t>故事｜我家的小狗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9FDB6B-06EB-49D0-AEF5-6C2BF5B5B293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小安很想分享小狗第一次學會握手的影片，但同伴一直插話。這次練習時，聽的人看著說話者、不插話，最後說：「你的意思是，小狗先坐下才會握手，對嗎？」小安感覺自己真的被聽見了。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6056A9-96FB-41CA-B902-A989E2138C9F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BE2BBD-9A61-4DE6-920A-1BFD56D6794F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C9FE344-8792-4E00-A7DF-4B8D6D5ACF07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95FE8-7D5D-4E8E-9FCB-85F7C98F7033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F76A11-C095-4077-8DA9-6E0BBB7741D1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能做到看著說話者、不中斷、重述重點並提出適切問題。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57C85FE-FF2B-4ED8-A6C6-E8FABFC1D498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E42DBA5D-344B-4A2B-9E84-6BC689EE24BF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941278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E4A998CA-CFEA-4088-B29E-2779C756613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7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28871-CE38-470D-9046-D69D3E40957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E3BD675-513A-4260-BAFB-A64F7E33A47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72DF77-D166-4F81-8B44-797CFB854E0B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64796A-D8EF-4E41-97A3-4A0F9B534157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78E32-FCF5-4E1A-859A-12192AF35675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D6EFFA-9354-46A1-92CA-47E0CF6DF652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3F6898F-3899-4A54-B76B-737E6174CB4B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5102A0E-8580-4D8E-8B2A-3BCC68F768F9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32ABCA-B58E-467C-BDB7-5CBE40A9B954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9227C7-58E0-429C-B3B7-143EEC2CBA1D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平板辨識良好與不良傾聽行為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004513-7B21-49C0-B0A6-F0FC4A0792D7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5CCF84B-5A7E-410D-BE29-A52A5C224C85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D5075D4-B1D5-4DE5-B0C0-30E3F7BB8D20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75A7F7-D0A6-4A69-B6A7-DE87A09A1938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EEC6C7-B25F-482A-888A-26C6FE9538BF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示範看、聽、想、回應與「你的意思是……嗎？」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3EF2D9-C0F2-408B-BB00-9FA1288FE2CA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F6AC0C9-41D7-4EFB-8523-EA32E8DF1BA9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9664DAD1-F7DF-4574-ABB8-871FA963813B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1DDA39-89D0-45D1-B60B-96C3D019B43B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8C02BD-47A7-4993-954E-141B380787DD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兩人分享一件開心的事，再由同伴重述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A0E25F-42D8-450C-BF44-CFC831DC30B9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90921FC-3D77-43C1-A50B-059A76C6D09B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AB9995D-285C-43C5-B1F7-695BD645F166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FCF31D-D0DB-455C-AC1B-C1FD4ABEE587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3AEF19-033E-4909-9417-B1E28BAD6D01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發表傾聽困難與解決方式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B42DCF-BC22-4AF2-9BDB-E8BA86395D10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24DC5DA-478A-4EED-9096-561CA00D6846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9A9FB82-EA53-4FE3-A6DB-A6DD430850AD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D5138FC-7E79-432B-8252-1E60806A9308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D3A73C-CE0A-4352-AC46-E6BBC97B15A1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進行「我說你聽」快速挑戰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9A79877-9070-4F8F-888E-84F72991737D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A0E0452E-199B-4158-8888-4D36EE58CB08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F25DBB89-8128-4017-B8BC-84328DAEA592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BF153C-DCF8-41C7-ABC7-01631BC21B09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053D3A-C26D-44AB-A22A-024A088F3F53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完成傾聽自我檢核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4B1CEB-4F19-462D-B057-1C3D438F439F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324F33-4BE1-4A8B-8A9A-D497446940F8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F925415-40D4-4A66-8419-45CE197D3EE8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163BA4A0-6BE3-47A1-85D3-6294F12C3EDA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956986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96F679B-ED79-498C-8822-C7DA38CBD57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8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171C0A-65E9-4584-BECB-FECAE698581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每個人的感受都不一樣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86461DAE-B5E2-4D51-96D6-306B05D8319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FB2F147-84A1-4E25-AA04-89DDDC3A128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C78204-CA65-4396-8B2E-66FB75D3C99F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D9C95"/>
                </a:solidFill>
              </a:defRPr>
            </a:pPr>
            <a:r>
              <a:rPr sz="1800" b="1">
                <a:solidFill>
                  <a:srgbClr val="2D9C95"/>
                </a:solidFill>
              </a:rPr>
              <a:t>故事｜神秘的驚喜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5AA208-15D7-45D7-879F-AA6FC304C84F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老師宣布明天有神秘活動，小杰覺得期待，小雯卻有點擔心，因為她不喜歡突然改變。兩個人沒有誰對誰錯；小杰說：「我和你不一樣，但我願意聽。」小雯也說出自己的理由。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119700-AB30-4BC6-B0A5-E3CE55C7489D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D664C0-2932-4375-9D08-E0BB7AF5F7B7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3FF4879-A6E3-4DB1-BEE0-E04A4AB8DB41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A7C3AE-D8E7-4A84-B045-3D6B118DD916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AA7E00-C4E8-4C92-AB66-862909742CD9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能理解同一事件可能有不同感受，尊重同伴的觀點。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F9EA8AB-103F-400C-BB0E-B65FD7AFB5B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7CC41DE8-F194-4009-B954-0C1ACEB4F16B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19245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8D1D085-0E62-40BB-852A-0BD8D03C45F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8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38EDED-0A37-4BB1-9A16-A40748336EB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B977BF3-0476-4CCA-B213-7D3205CA77B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B82255-F4F1-4EB0-A951-F78BD8170FF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B2F0D0-72B8-432B-9219-222BB3E1F00A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D7A4D9-6558-4CF1-BDD5-106748904588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C8E1AD-06FA-48EA-963E-97B9C9072E44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F751C72-0D65-496B-A0E8-1817BFE3B00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81652A7-664E-477B-AB7B-8B5A0F13F862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6538EB-5B66-4A27-89E3-F89B33FC340D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3377E1-5F81-4662-949F-E2CB7ED6FEC9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平板投票「如果是你，你會有什麼感覺」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30A33E-B269-4478-BB7D-8FAD72B217E6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0AFB96A-860B-4B32-B3F1-FC56D5B58CB9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CF7153B-509F-4BAA-94DD-C7CFC0F7BB54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C90EC7-D869-4A13-B428-28CBB71FB1F6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2EEAE7-92B5-4724-8EC0-6F366CDF4F62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說明感受差異與尊重語句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5A6CB2-224C-4B2B-A5DB-2806EA3AC685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11A2290B-FEDF-4CD2-873A-BE1D72D08902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8D3789E-FE72-4F4C-8807-BAF547CD69E9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EB3D2B-1530-4008-98A3-4DA31E181918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11446B-0285-43D6-B622-1E85B7863E0B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 3 個有多種答案的生活情境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25D94F-DF90-4787-B95E-2A8B6AE7404E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5313329-EAF6-43CD-BF1C-4BBCAD744C35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DF8EA7E-D9D1-43B3-90BB-53FCB181D117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7EC5C7-3F74-4C33-B102-1DE39445EC0B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9F6E66-4904-485E-A798-53CB75E016B2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發表不同觀點，練習尊重回應句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2B0702-C305-47D4-8E8F-27980ADFE2A6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6E15DA0-A7AC-45F4-9B64-58B70C6946A4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C3FFD4D5-CE54-458B-BABD-9BAABE8C8BC9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F8CC8B-330D-4A06-8F0F-0ADE5A49B963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5F4120-C5CA-4E6B-8C31-8898FF2E63F2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分享曾被理解或誤會的經驗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8BB930E-E1E5-4F64-8186-5E73D1FC7308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AB7111FA-97AB-4300-A905-4AA0064052FF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6A5813FA-2697-4090-A695-82C2C91D65D6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44917F2-DCA5-45FE-891F-1F3FF5F87E1E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5832D9-E53D-46F8-8FD6-A858D431FDC5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寫下一句尊重差異的話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0DF2E47-D4ED-43AB-8D0F-65EB8A53C267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998856B-F5BF-416F-914D-70765B319FD9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83A385-4740-4676-A9D8-E24BB1D949F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BF4EFF47-75BF-4347-AD23-F7861FBDB432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551178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760EAE3-3DAA-40DF-B669-5C0058A7260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6C453"/>
                </a:solidFill>
              </a:defRPr>
            </a:pPr>
            <a:r>
              <a:rPr sz="1050" b="1">
                <a:solidFill>
                  <a:srgbClr val="F6C453"/>
                </a:solidFill>
              </a:rPr>
              <a:t>第 9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9BFA3B-0FF0-437D-A3F3-0B63B26D7A7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換個位置想一想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429E457-FD7C-4882-A304-F4FAC9D48D6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6C453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AA47865-CF3C-45C5-98CD-0D6CFF1FF30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B2BA16-1140-4582-8E14-70A454676D50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6C453"/>
                </a:solidFill>
              </a:defRPr>
            </a:pPr>
            <a:r>
              <a:rPr sz="1800" b="1">
                <a:solidFill>
                  <a:srgbClr val="F6C453"/>
                </a:solidFill>
              </a:rPr>
              <a:t>故事｜沒被選進遊戲的同學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8C7C72-BBC8-4AFA-AC31-973DB6DFBE91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分組遊戲開始了，小凱一直站在旁邊，沒有被邀請。小晴先猜他可能難過或孤單，也可能需要有人說「你要不要和我們一組？」同理不是替他決定，而是願意先理解他的感受與需要。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DFAB4D-FAFE-4F75-9E5C-C2BDD3D11C67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4631BE-ADAE-4E51-BB6F-EB2A78072D95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AFCFF16-C047-4797-8A0F-3408D76A8308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E3ADD-EB1E-457A-98B8-2C100131C53D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E055EF-6059-4691-A3EB-937D7302C193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能從他人的立場推測感受與需要，練習同理心。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FF1F97E-9F06-4515-863D-37C09BB6CA86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C2BDDADC-7312-4336-B3A1-60A5EE219AB8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242990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79262495-9EE1-40D4-81C8-CC13D1E158B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6C453"/>
                </a:solidFill>
              </a:defRPr>
            </a:pPr>
            <a:r>
              <a:rPr sz="1050" b="1">
                <a:solidFill>
                  <a:srgbClr val="F6C453"/>
                </a:solidFill>
              </a:rPr>
              <a:t>第 9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F81313-4DD9-4090-8DBD-1548270738C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23B0CD1-CC62-4AA7-91F7-07396684268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6C45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86160C-D707-41B9-B6BD-BF552726D5A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6EC06D-051A-4FC4-9354-BA03AB19F60D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B8794B-B754-4B93-846C-2EE558105FDB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202BFA-69E0-41E8-B05E-C50D9A38B832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D302643-4E35-46AA-A5B5-614C24D7C3F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C107C8F-ADE4-4A66-AABA-C83AA44A8FDE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C552D6-3E72-45F0-97A9-20AC3D9E688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92830-1EA7-4808-BD65-0A30F6C5A0DB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平板進行「猜猜角色心情」遊戲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2ECC6F-615F-4EE7-B48B-9FA99E33157C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1616FB8-9E96-4682-89D8-BADF584BCDE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46096E8-ABEC-4E0D-8B8D-BEE86072B3A9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0C6E20-EDCC-41A8-A39C-9C74CFE00044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DAE260-EC66-4C78-AE87-DBDB74FA4F0F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示範從被排除同學的角度思考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520DC9-EF96-4E3F-9232-970DB3CC5411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9B107F0-7057-49F9-8ADC-1F33F418339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71ACD58-0E42-4D14-A5E3-DBA639479341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824D27-0DEA-424D-8917-B7C278EB1DCC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210EEE-D71E-426B-9B9D-B5ED73088FAE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完成角色同理圖，寫出感受與需要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0C83DC-6EDF-48F1-9F8A-04BEC970220E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D7576F8-E9DD-434B-84E8-F67299C3E8E1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738E3A57-2D86-421D-9135-D1BC19D9EAE2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0D2412-B638-4E3A-B4B1-192637039B2C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0BF358-AC30-41A4-8556-B90C3061C36F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發表並接受其他組補充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0666C1-82C9-4961-B219-215367F98A96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173D6B8A-2633-467C-94B4-C507B4F922F5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ADB03AE7-5F70-40CD-9CAB-9155DE5CBE72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8DFC0C-83CD-4069-B564-441AA01354BE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2EDFE6-1BB4-43F3-9455-46BC4AEE1DDB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討論「同理不一定同意，但願意理解」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7B3B67-96C8-4441-A7FD-3E61ED13A2A0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2DBE3495-54C4-4DB9-8833-71169980567A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F7FD852E-22E1-45C9-B12B-DAC042B15FCF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CBD3BEB-C3CB-48B9-8D8E-48CDD0403B85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16A7781-5D80-47ED-AE6C-E69D5AC1D1C3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寫下今天能關心的一位同學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18744E-4C70-4307-A1E4-0A03D90ADA26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ED0DE6-A16C-4A1A-ABBA-D53083061CA7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0A48349-FDC7-474D-BB47-FA3925E09408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759F6D0F-7F44-4E76-A3EA-407089393B2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686158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5BF787B-A396-4CA9-86AA-F72522D252D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664A9"/>
                </a:solidFill>
              </a:defRPr>
            </a:pPr>
            <a:r>
              <a:rPr sz="1050" b="1">
                <a:solidFill>
                  <a:srgbClr val="7664A9"/>
                </a:solidFill>
              </a:rPr>
              <a:t>第 10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BFF2EE-B33E-4911-9B4B-30CCF52502A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友善的話語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5DD572C-97CD-48CF-A1B6-7ECF69A06E8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7664A9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AD694A1-E19E-4E96-9370-9E4E87B2731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352B89-7F23-45D5-BF03-4D9CC392C727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664A9"/>
                </a:solidFill>
              </a:defRPr>
            </a:pPr>
            <a:r>
              <a:rPr sz="1800" b="1">
                <a:solidFill>
                  <a:srgbClr val="7664A9"/>
                </a:solidFill>
              </a:rPr>
              <a:t>故事｜被擦掉的畫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D58849-D9C2-414B-B367-255D50C86C9C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小芸不小心把同學的畫碰掉一角，對方很難過。她沒有只說「對不起啦」，而是說：「對不起，我剛剛碰到你的畫；我知道這讓你很難過，我可以幫你補回來嗎？」具體的道歉與安慰，讓關係有機會修復。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E734F6-9F3C-40A5-AF62-5C58020771F1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955C71-2F3C-472E-810A-7C06B29DD2A7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57DCD74-8D66-4BF5-A700-686BD5FFA414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88D87B-E9A3-40C9-852B-D23E22998517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8CBFCC-7894-4D3C-97DB-6157F607E397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能辨識鼓勵、安慰、感謝與道歉等友善語句，並在情境中使用。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2B9CD68-4E7C-49F3-AA2F-27534C23B7C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1D8FE623-527F-4268-A758-AD3056B6B05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993406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48A754B4-0589-400B-9A58-83A70539CFC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664A9"/>
                </a:solidFill>
              </a:defRPr>
            </a:pPr>
            <a:r>
              <a:rPr sz="1050" b="1">
                <a:solidFill>
                  <a:srgbClr val="7664A9"/>
                </a:solidFill>
              </a:rPr>
              <a:t>第 10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8E2B45-4EE1-43CB-8A12-D5D416740E7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9146FA2-F6A6-46C8-9EB5-440A9B4633F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7664A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131124-3D32-427B-9521-ABBFCCAD7B8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4E7215-AC4A-41B5-97F0-33D5555944C3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940B39-7241-4F27-B1BF-EA103C43209F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94F7E3-457E-436B-B005-CC8A1AB1FDC9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B23AB24-BF04-4721-84DE-CA5BE8498D02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66C119A-E051-4B2A-9BB8-B5290CDD64BA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CA8E5B-6319-4E80-87DD-CC4981E53450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94D3A0-0FB2-4FC6-80DE-9E04E97EE540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平板選出最適合的友善回應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9F388E-3BBC-43BF-A1E7-AAA618FB1A9E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108A12D-9C78-4BC9-9D6C-FD0F35653F3A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6898476-4BD4-4884-AA76-C7EE3D0ADBF1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95A02B-01D0-4A44-9E6A-7DEF557D1166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8DCDE5-8B48-42D7-9D57-6C931CFFEDAF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示範空泛稱讚與具體稱讚的差別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50A831-5812-47AA-BC76-B40571BF21F1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E681213-32AE-4E50-8298-1179808B96FD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72DCA31-A893-4D3F-90CA-78196D274F6A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61F318-3D78-4DE9-A711-436879C42036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E7ADCC-6D65-4C4A-A424-F16F212EB39A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小組抽情境卡，設計一句友善回應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847BFC-AFC4-47D6-A585-621C81FAF454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02A2F7C-2A8D-41C1-99D3-F0F60E64A4DE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E25DD42-38FE-49CC-9500-AA4E2857B919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DAAD98-EF6B-472A-A2E3-7F9A1FF8D51E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EC27F1-E0A0-40C6-80CA-3A9C26DC0738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角色扮演並發表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4D1BD8-193D-4805-AF51-96A4EB1673FF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F5E70B95-79DB-4763-9ECF-D7378DD55610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BBFE4DC-8FFA-46D5-A0A1-95E5F52CE843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44D39C-475A-469D-90DC-980E42EBB82F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06B24B-EF07-43BA-861D-F54E37D9F320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分享聽到友善話語時的感受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0733E4B-01D6-4FFA-B4A6-C059F54E7625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0CED2146-E0C5-4B55-B589-31E65B29AE5A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94D180D-2685-4CCD-A0F6-FE9DDD787F6C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DC993A5-92A6-445F-87B7-6F7426C88D46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869521-DEC0-423E-A6A0-0B14A76A4040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完成「今天我想對＿＿說＿＿」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684C5A-0044-4A05-8752-6B70ABE3995B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D578DEE-5F0F-432F-8AF8-0218DF508BFB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A14D3F5-6429-4806-A9F2-8CEB088EF494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32CB23E0-122A-4000-825A-D38179B1EF0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2147284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70C820F-5756-4177-864E-F056E12E0D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AA9D6"/>
                </a:solidFill>
              </a:defRPr>
            </a:pPr>
            <a:r>
              <a:rPr sz="1050" b="1">
                <a:solidFill>
                  <a:srgbClr val="5AA9D6"/>
                </a:solidFill>
              </a:rPr>
              <a:t>第 11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2814D1-C7D0-4477-83C6-3EE2AC01993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一起合作完成任務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0DA98A8-8270-479C-8C7F-DFB7F4D0C10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5AA9D6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9845847-E342-4207-8C23-9A53A5D9F4E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C81755-D2EE-40AA-BF3E-30253ECDDFC0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AA9D6"/>
                </a:solidFill>
              </a:defRPr>
            </a:pPr>
            <a:r>
              <a:rPr sz="1800" b="1">
                <a:solidFill>
                  <a:srgbClr val="5AA9D6"/>
                </a:solidFill>
              </a:rPr>
              <a:t>故事｜用有限材料蓋橋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34466-01BA-4C8B-9F2F-03A98A6A9C5F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小組只有 10 根吸管和一張紙，要蓋一座能讓玩偶通過的橋。有人負責設計、有人計時、有人記錄、有人保管材料；大家輪流說、聽、修改，最後一起收拾。合作不是一個人做完，而是共同負責。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398015-3859-451E-A0DE-A8CE230C5553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D4A08E-58D7-4FD2-A726-18F997870E47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55639FF-5D40-4F8D-9EC0-4002918FA142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CF594A-1BF1-4053-86F0-912852FD11D6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C8C3E2-9876-4E47-90C2-585B953ED2C7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能理解分工、輪流、協調與共同負責的合作原則。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A39F14-E27C-4CAD-B2C5-E22309DAA801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8113ACE9-11AD-4BFC-A879-865ABAB12909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662491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21741F15-A9CE-4E2C-AF71-A98D6622F0A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AA9D6"/>
                </a:solidFill>
              </a:defRPr>
            </a:pPr>
            <a:r>
              <a:rPr sz="1050" b="1">
                <a:solidFill>
                  <a:srgbClr val="5AA9D6"/>
                </a:solidFill>
              </a:rPr>
              <a:t>第 11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297F38-A886-4223-A4D1-3376D2589A9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50BFA9D-74EF-4E0C-96C5-8BB6E62D9F3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5AA9D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DDF2B9-4D08-47B5-9C2A-A6EA94606BD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3E1DE-CF06-42C3-9EBB-113239AE5FCE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2AA6C9-AB0B-4B65-92AF-B7610EBF9899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100C22-FC44-4A37-97D2-FF8C66503D5C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BCACAE2-3250-454E-BE12-7838F3FE9853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EB1FAAB-E7F4-45C0-8921-F4968A39F562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6BF8C6-3567-4B87-894C-4947B4DE338A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C71834-C58F-4BF3-9A8C-4FAA4E061A04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平板判斷合作行為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449BE0-261D-44E9-B8B8-989EA05D2281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05B52C9-4610-42C2-B9DF-17F6348F38C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2BFC70A-0C0A-442B-AE95-7817D2CFCE4B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D48FED-1BA7-43AB-B266-B8DD5C26D0A8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58E0A0-FA50-4A82-947D-FC9A464BE89B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介紹合作四原則：分工、傾聽、輪流、收尾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4611F8-758B-43F4-880C-1D9B869889FE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F6AE97C-1296-4E1A-8A0B-3F965DF5DF43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C0ABF54-C4C6-4036-A3AC-0765A89676F4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3D8C1C-3387-49B2-A19A-1760F6ACB20A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BBC192-033C-456B-833D-3AAC84A3F8A4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完成限時圖卡拼排或共同創作任務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C88E74-5FFF-4B9E-A378-AD53EF227671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519580BC-9B24-4DA0-82D1-64CE9F1EC4B4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240690C-6862-49B8-A06C-0A7233A09E38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EE5C0A-3948-495E-B8DE-39CC99C49C14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2C5B08-AE46-4AE0-AE56-E154D62808A7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發表分工方式及合作成果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0F81D8-F8F8-4ED8-9D64-900DF00DF084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67A5BB8-2312-4A2F-B059-111B0F62652A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A5B58186-76C8-42F4-98D4-4E6D32B495A7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C4487C-E354-4F68-A9FE-9D6C6125FED9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1EA2DE-AE77-4181-A166-22B78C14DC63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檢討哪些行為讓合作更順利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0E22FC7-30ED-40D1-BECA-82596228E433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163E4E2-21C6-4C7F-A587-6A2A9C31873C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C2B6D8F-5384-4DA1-8B12-DC5D78E85373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4C0B47-FB40-4A12-93B7-BCCBDDDB31A2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6DD3C4-8259-4787-BC74-1A2FDD46328F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寫下一項下次要改進的合作行為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5B1FA19-D23A-4947-9732-17E3F6179794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48C5429-68FE-4DB1-8E90-A5A49001840F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9CFF27-4825-4F6A-95BA-1A1558E4086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2980C1A1-5B46-4B14-9125-A84BA50C7A30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203588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1EF7132-7B76-410D-AB8F-E7A5C6209CA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9DCC8"/>
                </a:solidFill>
              </a:defRPr>
            </a:pPr>
            <a:r>
              <a:rPr sz="1050" b="1">
                <a:solidFill>
                  <a:srgbClr val="A9DCC8"/>
                </a:solidFill>
              </a:rPr>
              <a:t>第 12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1C83E7-6FC0-4444-B5F8-55CE51873C5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意見不一樣怎麼辦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8257BF9C-AD45-41CC-B2F1-11E19E9F254D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A9DCC8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7D13D8D-431D-4AE2-B4CB-46574000FEE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E3419F-3B9B-4F17-B0E3-2FD920D5F163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A9DCC8"/>
                </a:solidFill>
              </a:defRPr>
            </a:pPr>
            <a:r>
              <a:rPr sz="1800" b="1">
                <a:solidFill>
                  <a:srgbClr val="A9DCC8"/>
                </a:solidFill>
              </a:rPr>
              <a:t>故事｜班級獎勵選什麼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4AD02D-4D38-4B3C-A2EB-AA52AE40BBEB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班上要選一個獎勵活動，有人想看電影，有人想戶外遊戲，也有人想做點心。每組先說理由、再聽別人的理由，找出共同點，最後投票或折衷。沒有選到自己的方案，也能尊重共同決定。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3B5246-9FAD-45A4-9ADA-6025DC7A8D6D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565765-6912-409D-9371-C86C79E3A33F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A817C46-5363-4AA6-A76F-4E61B204E621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A07B3C-5D9B-4C28-8877-CB8D269686BE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AD5C12-112E-42E9-A4D6-8A67DE226F8F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能在意見不同時先說理由、聽取他人想法，再共同找方案。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0A8A204-A8F8-4CBD-8606-30D650F73CE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0BF325B9-31A7-44BE-B66C-CE68AA0345B2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365494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76B0C2FC-822D-47F5-A118-7A02F98F30C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9DCC8"/>
                </a:solidFill>
              </a:defRPr>
            </a:pPr>
            <a:r>
              <a:rPr sz="1050" b="1">
                <a:solidFill>
                  <a:srgbClr val="A9DCC8"/>
                </a:solidFill>
              </a:rPr>
              <a:t>第 12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10C283-6329-4347-8AD3-26F64E7E804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E0CEE56-F749-48C3-B5C1-76112D1A0CF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A9DCC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0CD2EC-E71B-458C-A711-4672E3ECAFD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9144E6-3AA2-4BA9-B8D9-2E6E4DFD45EB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DCB3E4-7CE2-4B9B-80D3-A2726131BF83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518365-52FC-4AF1-8CEA-40C64C4C7E43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141348B-FF76-4B53-AE31-25EB9C849DD9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1E5789C-1EB9-4CE5-AA2B-407CCCAA06C2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BD153B-808D-49B2-BCC6-0A04327391AC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6C7ECC-9E41-4011-A100-E0E722C81D15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平板選擇解決意見不同的方法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1DB2BA-2F5A-461B-9549-91F105A6DAC6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7C8A529-7885-461B-8F27-601D1C5D0899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D766838-AE3E-4324-B95D-BD7B328A1541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93E2D6-EB24-4F6B-95E1-130E8AB37267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6708FE-B9EF-4450-96BD-6F53E5A49324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示範「說理由、聽理由、找共同點」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0AE9E4-4CFF-42BB-B217-1923B2D9D8F8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A7B6400-68BF-4BFA-8EB9-2660BD2BA9FF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A25FEDE-DDE0-4139-8806-E5A37EC6AF3D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B0B4E1-9334-489A-93C7-2C8A6B1A608E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3DE56A-C780-4120-97D3-52F4DB129049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討論班級活動方案並記錄不同意見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7E9A13-13BD-48B5-A058-CF3C877FF514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065517FB-B8CA-484C-A565-16BDC2F17549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37C93347-8AE5-472F-8E38-B0A68065EE1D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DC0ABB3-9295-4C18-9D04-E3F0DFF4D30B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2DC5602-5A4D-4F57-9522-10A26754D4AA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發表最後決定與採用的協商方式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21E7A8-14E6-4C9B-8A85-451063884A72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81178DA-7839-4EA4-9E66-B85DDE78A00F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998E2D00-67A7-471A-A71D-2B1D0282F5C1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2E2A949-36A8-45BE-AAF5-1545A7B7A0C3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2C261D4-0E7E-4D0D-8A97-F2BF72CF9FE1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討論沒有選到自己方案時可以怎麼做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56BD78-DA95-4817-A633-DA33BF8B44B1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211FFBCD-E503-4E1B-8F85-F4F6F5BE1960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20A2076B-9D2F-47A1-962A-CAB4BD4D6557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3339987-F63F-45CD-85E2-3C8DF941E39A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57EE36C-FAF0-48C8-8269-6807AACEB1EF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寫下一句尊重決定的回應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F80CAD-E1BB-4CC1-9AB6-82E3ED22A3FB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63FC69E-9E2E-4D7B-8AEA-8104622FD4A9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C2CAA0C-56FD-4CD6-AC42-C67A14DE0E0C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DF37FA2C-4271-4C14-92D1-2B776A677CBC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2021614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B743410-1ACD-4E39-8145-CE8FC2C233E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13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9828F6-7DB8-425E-9062-A8ECAC42875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發生衝突先處理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1DF5411-AAB5-4570-9E6C-A3646E28875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AAF59B2-EEE4-438F-9E6B-3AF1D74C9F5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736802-1D05-49D9-8D31-FD9223DF209C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26B5B"/>
                </a:solidFill>
              </a:defRPr>
            </a:pPr>
            <a:r>
              <a:rPr sz="1800" b="1">
                <a:solidFill>
                  <a:srgbClr val="F26B5B"/>
                </a:solidFill>
              </a:rPr>
              <a:t>故事｜都想先投籃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721E3B-D4CB-4AF3-BB0C-B994B327951C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小哲和小恩都想先投籃，兩人越說越大聲。教練請他們先停下來，說出感受，輪流聽對方，再找辦法：猜拳、排順序或請老師協助。若有人受傷或感到不安全，就要立刻找可信任的大人。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B6DB55-FC46-454D-B73F-3091FFE11B01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D04314-3FD5-46E5-96BB-5C09EA9DAE13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72EBD40-0891-4D86-A8CC-5A30C679F725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9B0F8A-A5D5-4956-A465-1000D89C29F1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7D9FB9-D5AB-460E-899A-7E09C7EB9B6B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能依序使用「停下來、說感受、聽對方、找辦法」處理簡單衝突。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E27DE7B-C41E-44E2-BC47-52284CAB659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DAC409ED-4CDF-4D82-AF3D-AC0916F4878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809376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797F18B0-863A-46DB-A8F6-21438DF169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13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FB50A0-B9DA-40EE-A6E5-220ACFC3E64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5CAD413-209F-4869-AF13-E244721A4B5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F8D2DA-FB14-4223-92F8-8A84B9CF46FE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FB5009-5B01-4D2E-B2F8-8EC60FD69F9E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A4DC09-EDDD-4BA5-82A5-71561861A1A1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8BB5D0-E2E2-455F-96E3-DB6E26297666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E1F05AB-1D05-4B33-AF92-291B749797E1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81F6FDF-08FD-43F0-A08A-0F3194DC6B53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0948AA-794F-4075-9055-4A06D888DDFE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F10E95-0BD4-4B5A-A3D1-5A31B6BC1EA6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平板排序衝突處理步驟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CDD54A-2097-49EF-972A-FC64B611D014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6EF1541-787C-42B3-B253-F875DD787454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75D4700-F5E9-43B0-9437-8C7F5D55237E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CCC682-764A-476A-84D4-4A022D9BF4D6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54A05F-CB10-457C-834D-455F8C89BEDF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示範借物、插隊、遊戲規則爭議情境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BC9B39-8CFB-4E64-97A3-F8566FD730E8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8CCF282-7556-4FEB-ACE5-750F02A7D62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E16E0470-93CB-4346-9C90-47D07BF67D6A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3BF339-3FEB-45C6-9ADF-313B618A81B9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FC86C8-8099-45D6-B269-EB4D0E57099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小組抽卡設計四步驟對話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E18EC1A-9916-4EE2-9004-9C9E84930233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F8C42A9-63BF-4E41-9C20-205E736C1C01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5FB11C6-C085-448E-AC8B-2AB7B542C076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62DF96-59E2-4BE4-A2AE-0B7C3579EFB8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833AB1-5440-41FF-834A-C41A12BB805B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角色扮演並接受同儕回饋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4DD0AF-12B9-4CFB-B479-32129BDFF7BA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E0163B8-0BFD-421F-9111-0B9DCEB8B2CF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0303D873-B989-459A-9065-8B78E7A06C08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D24B92E-51D8-40E8-845F-5DCA6C3182E2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6E0849-A79F-486C-B4D4-8166CBC45BCB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討論何時需要尋求老師或可信任大人協助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B9D4E7-3B20-486C-BDB6-F40484C5C03E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1A59E30D-908C-4B01-8CAF-632A971B912E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59A0167D-3B97-48F4-B5B8-682AE22AAF99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A31CC05-7E49-4FE9-BFFD-8ACF73D76735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730192-9299-493D-BD92-DA0E15DB07A2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完成「我遇到衝突時先做＿＿」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DEFE7F-A2BB-4F23-B8CB-26EE819DC86A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F33163-CCBC-4471-B7E7-11A8803F33F6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863CA82-2FC4-4D7F-BD32-D0993DBB4C3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C79B9D1E-FDC1-4259-ABF9-BE1B05FCDE29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234478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38D006B-48AF-479D-8064-72D92552689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14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37967-C515-4EFF-BAA7-5BDD70ED36D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道歉與修復關係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83FD973-CA30-4852-9EC3-C9A98363301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3F05A7D-3253-4476-B067-29070509682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4390C-730F-404E-A59E-CE65EF67F9D8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D9C95"/>
                </a:solidFill>
              </a:defRPr>
            </a:pPr>
            <a:r>
              <a:rPr sz="1800" b="1">
                <a:solidFill>
                  <a:srgbClr val="2D9C95"/>
                </a:solidFill>
              </a:rPr>
              <a:t>故事｜倒下的模型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2D0A2F-1A35-44D1-935F-D03717BD47A3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小偉跑步時撞倒同伴的紙箱模型。起初他只說「不是故意的」，後來學會負責任地說：「對不起，我撞倒了你的模型，讓你很難過；我會和你一起修好，請你告訴我需要什麼。」對方也可以選擇先冷靜再談。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B81BF4-287B-48B4-AB53-F1602541E92E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2234C3-A4EF-401C-A32E-FD5231157A5F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094201C-6C6E-469E-98BB-6AB9E3E615C5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1E6BF1-55D7-4637-97F0-7ECA17AF07A7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8E897B-E25E-479E-BD3E-5632AE3447F3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能分辨敷衍道歉與負責任的道歉，提出補救行動。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26FDFF9-5C7B-426D-A070-37EB7DA04D16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59ACDE03-7ACB-4D68-9DB4-F654FD08D5D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788542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36A2206-BFD1-43FD-98A8-661B7BB2DA1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14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DE1A7-8121-4508-A9D5-13440F8EF07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08CF89D-DA9A-4DA3-822F-F373A96E67E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27A72C-0D0F-49B6-A30F-1B1C25896F80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23D4A9-B633-4B38-8E01-A9DDF715EEFF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E74C84-4F52-4CE7-985E-90BBE20639C8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853A91-8993-40AC-9EA1-C27814244928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193362A-16A5-4147-8D3A-281B18C61969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886C70F-03BB-4D8D-8520-A3D81AEBB15F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914CDC-3C2A-4809-8169-181957F4DAB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2E9183-353A-4AC9-96F1-A60A19F42B8D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平板判斷哪一種道歉較有幫助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BF3BFC-1EEF-4719-913D-CAB9E040429C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6EB54F8-EF5B-4715-9840-7C14C5EA82E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6076811-490C-4D54-A7AA-3B75FEFABE99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5A1313-373C-4320-B498-DFEA70151630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70AB2F-D97D-4FBB-90CE-FA9F986AA711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示範道歉四句型：承認、歉意、補救、避免再犯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DA7B33-1657-4619-90C6-0DE9FCB0200A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01D0F00-68FB-4919-AF03-4B1A790282D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6E5A8D4B-B1AD-493C-B9E9-420C32CE8C66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A56E3F-A1DF-482C-8047-4944FC0CD8FC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1B45E7-6D6E-4EDC-8807-213D283E25CE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將 3 個衝突情境改寫成修復對話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587D09-113A-485B-8B1D-D6F9C0BDAAAC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7A8AB58-3051-4C99-A1DE-E9B754468481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9682BFD-0BEA-40A6-8CF9-1408B0C0D977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A68F17-2D82-4886-BA9F-C63191743BF9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4F118E-C84A-4507-8FA2-9F857EFEB7C9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發表對話與補救行動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F717287-470F-4365-99E9-FDB0472EC605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748C0371-6E78-4BAF-9624-56A2E77A7833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5F4B3D4A-3144-4784-ADCA-A775195DA689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41E8825-9391-4DC5-A357-08A773FA9791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70DCA7-C7A2-4429-BCE5-D13A55E5A903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分享接受道歉時需要什麼，也尊重對方先冷靜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69DD34-FAA5-48EF-B4A6-B98C388078AA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713529AF-8881-4107-BB73-BF9FC26E802B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5DF9C299-A6D1-4185-9C8C-4622B4CCCA2A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17F925-E9E3-4980-9B5E-0A652296985F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8031271-50D2-41EC-A7AA-D32A2304ED04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寫下道歉後要做的行動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34EF3EC-DD7E-4F31-A6EC-5BB08E36D647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38E4633-9F17-4F92-81A4-91F32FBE5774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01F093-BBB3-425B-92AF-FDF14340E646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69A214D5-1FD4-4FEB-8537-D69F849EC7C9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159156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ECD3295-2551-44A1-9D06-545B9E8D47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6C453"/>
                </a:solidFill>
              </a:defRPr>
            </a:pPr>
            <a:r>
              <a:rPr sz="1050" b="1">
                <a:solidFill>
                  <a:srgbClr val="F6C453"/>
                </a:solidFill>
              </a:rPr>
              <a:t>第 15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1A4DDF-7CA2-470C-9A22-BEA73C14851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做決定前想一想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85818B9-F52A-4642-B3D0-101A720B3FFD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6C453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5BD9FD6-86DD-4143-ABFD-85BEBCE6D13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31B71D-0070-4575-A5E4-FC152C42E911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6C453"/>
                </a:solidFill>
              </a:defRPr>
            </a:pPr>
            <a:r>
              <a:rPr sz="1800" b="1">
                <a:solidFill>
                  <a:srgbClr val="F6C453"/>
                </a:solidFill>
              </a:rPr>
              <a:t>故事｜看到同學作弊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F86959-D3CE-4AE8-9C92-2A429B41C6FF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小杰看到同學偷偷看答案，心裡想：「如果我說出來，他可能會生氣。」他先停下來，列出選擇，想想每個結果，再選擇私下提醒或請老師協助，最後檢查自己的做法是否安全、尊重又負責任。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B27CD8-F45A-47D3-AEF8-688D9795478E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50B3AC-C5D7-413A-9B49-DA31F95D228F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14B8BF0-5DC9-4D03-A2A8-100BE2B3CEA2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5AC13C-EA7E-431A-8B9E-50BEB68ACEA8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A46384-0E1D-469B-B31A-695D9F3FE9C5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能列出選擇、預測結果，分辨安全、尊重與負責任的做法。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FCA753C-94F9-4FAD-9046-2BA1A5A35BE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699C52AD-FBB6-43F9-9C7F-8B3D8AA694F1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208451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651B0D89-D6FE-4A2C-843F-4FAB4EC8F01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6C453"/>
                </a:solidFill>
              </a:defRPr>
            </a:pPr>
            <a:r>
              <a:rPr sz="1050" b="1">
                <a:solidFill>
                  <a:srgbClr val="F6C453"/>
                </a:solidFill>
              </a:rPr>
              <a:t>第 15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4E4444-9F63-4319-AB56-BB528583121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BDB08D7-B35E-46B9-BFFE-34073E4A7B5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6C45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FA745A-7B26-4982-9A17-D41CFFDF5B0F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F3B276-6B24-4927-95A9-E2AAF9382A62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50837B-B2B0-420F-9243-1B493640CA55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2F8028-048D-4A11-935F-6B75BA6D9A13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A38BF3E-957C-4FFB-93A6-D017304ECED8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FAD0896-844B-4E45-9A11-B9F2120F08AD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A540FE-3378-4865-A033-502079FC5C0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7589A6-0F22-4A18-B680-2E037FA0AEEA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平板判斷哪個選擇比較負責任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B92760-58DF-4CC9-8929-5018E035CD0E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4716024-6B10-40FA-988A-0F801503894D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D02AE01-C821-40DE-9134-4876767E4570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5F08B2-3A6A-4967-9B75-6369AC6B9FB1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BBB76D-578D-4820-AF3E-EA9639C546D3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以作弊情境示範決策五步驟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EA43EC-09F2-4606-9310-24C6B7189627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25BE559-F325-4DF3-9036-82E20E9EE92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96128B9E-7066-4F2E-B12A-11A5986FDD78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E33BFB-DB4F-44C8-8E14-D1E0A1F645AE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41D094-BC70-47ED-9255-813475F878DD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完成校園道德情境決策表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1FAC52-45B2-46A0-BD3C-F0D5D8011D66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9C50111C-1F84-46B1-AA1F-D7C389CB01AB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CE28164-9D55-4742-A00A-6090A00508D5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861793-BE11-4472-B083-5F9D374CF079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BF0596-FFD4-4A62-82C7-FB0F13D8F1F6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發表選擇與可能結果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ED2636-DF27-4C88-BEF4-2CF0810AEB58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86E06C48-ADC2-47AB-97D1-BC0E0502B384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0A50920-8147-4910-B567-82609D6AEA95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851A07-3F62-4CE2-AA20-3100420B876B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0816053-DB99-4A2D-8167-9F25CD3E272C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討論方便的選擇是否一定是好的選擇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D28362A-A91E-48F2-85E5-DCA172F60792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9D77EFF6-115F-4496-86A0-E8F072FD790E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2D8F9D4-3C08-4B50-A450-34DCE898B673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EDCA050-9069-4C10-AC68-A6054B61FB63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399047-4C9B-4413-9447-AC8ADFFB76DC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完成個人決策提醒句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0D93D9A-05FF-4CDB-97C7-274CB69190A1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E3CAC9-1011-4E07-A815-68018B1B19DB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BFAF1B-DBF5-4FBC-A85A-78DCD5116EE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F0F4ECD9-2343-452D-8E73-891211854E6D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107485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2187B41-7DC4-4718-9DFC-B594E61A31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664A9"/>
                </a:solidFill>
              </a:defRPr>
            </a:pPr>
            <a:r>
              <a:rPr sz="1050" b="1">
                <a:solidFill>
                  <a:srgbClr val="7664A9"/>
                </a:solidFill>
              </a:rPr>
              <a:t>第 16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7C1793-A3B3-451E-B48B-539E29AC2F1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網路與平板使用的好決定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7158155-A8D5-4093-BCA3-43BDEE8CF0C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7664A9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DA490BB-D95B-4619-8DD3-62D97120AB4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3B23F7-905C-4913-9B6A-A8742154C88C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664A9"/>
                </a:solidFill>
              </a:defRPr>
            </a:pPr>
            <a:r>
              <a:rPr sz="1800" b="1">
                <a:solidFill>
                  <a:srgbClr val="7664A9"/>
                </a:solidFill>
              </a:rPr>
              <a:t>故事｜陌生訊息要照片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AED0AC-AD98-400C-9488-46F9372DC078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小安收到陌生帳號訊息，對方說：「傳一張你的照片給我，我就告訴你一個秘密。」小安沒有回覆，也沒有轉傳，先截圖並告訴老師或家人。他知道要保護個資、尊重別人，送出前先想一想。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769D48-EF93-4765-9B1E-315BAF451B93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4C990D-DA14-4630-8747-1F6D62C84497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C8FBE51-F579-43FF-8DE8-87BC58D60C43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BD4464-B4FC-45AB-921F-2123F0A0A82B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1CBDB8-D651-412D-90F5-87C34F9C9446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能判斷平板使用中的安全、禮貌與負責任行為。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2425543-0434-477B-BAA7-788FF84CB9EA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F009AFAA-B1DF-4EFD-AB68-B9B5DB09EFC2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492782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15BC875B-D810-46BF-89CD-9A98D4BF157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664A9"/>
                </a:solidFill>
              </a:defRPr>
            </a:pPr>
            <a:r>
              <a:rPr sz="1050" b="1">
                <a:solidFill>
                  <a:srgbClr val="7664A9"/>
                </a:solidFill>
              </a:rPr>
              <a:t>第 16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8C7350-4D49-489D-9CA8-4BADD8C6550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9B0A923-E997-4CC6-8D46-37F70E45E73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7664A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92D2B6-4EAB-4BA3-953C-137BFCA2236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1AFA51-6E35-47FA-A9C3-FE7D6B80817A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90E2B9-FD5D-46A1-A612-E313B43C34FF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633E1B-4821-43AB-93EF-DEC54919D52F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3565F06-1EE5-41CC-B0A0-79AD7749F7C0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40E2E3C-5960-4FDE-B879-8816957F0D3F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FF79D6-1D97-4120-8C75-04979611DD3E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42D670-72E1-4686-AB5F-6B95811867A2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平板判斷安全或不安全的數位行為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BF9E02-B07F-44B2-A100-99183DE849D2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261C749-A0DD-49DF-8C6B-7293D164DE74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80D030C-74D2-44D5-8066-568DBEEE1BC1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6934EB-3A0E-428E-84BE-81A22B1784F9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30D900-F5CB-4CA2-A07E-E78A4D16C00A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介紹三原則：保護自己、尊重別人、先想再送出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ADDCFB-A42B-4134-B04C-3AE712158FD7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C76709B-3D8A-46B0-9AB8-270926ADC0B3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9E802D0-75DA-478D-A22B-5FCDE09D1D13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16A7B0-46E5-4FA7-AC7A-A713413D24FA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C2DFEE-651F-4D64-A95C-7832BC7830CF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完成數位情境紅綠燈分類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8CC490-0945-46E1-A00B-29C9C9DB2E34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6996A60-F90E-4F6C-8581-16D3B7735061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F1E90502-0C03-4B7A-BB55-BFF25F3BC970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E844D2-39CF-4C25-9B9C-E20F4C2BB833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61A7C4-1584-46BA-A0F4-F55F876201A2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發表一個高風險情境與安全作法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C446EF-6B90-4E41-B4ED-793628D1BE2B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AA0A7F9-B938-4657-8B58-D7D50B341A33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9D023E58-501F-4875-B7E4-7CEC5314D13A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2B0F33-4510-4CD3-BE28-2495D74F0E42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5B675EB-494E-40B0-920C-83FC6C0ECAB0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分享遇到不舒服訊息時的求助流程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ADF40C-962A-4A78-98E0-7C9DB309802C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8AEB3A10-BB3F-4477-BA4E-221EB1AD7E28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20527562-986B-4DDE-A24C-6D8CC5C110C1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F3724A-0A84-4990-B61C-2E29A95BD2FF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069131-D193-4274-810E-C6D9C5F1C109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完成數位安全承諾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F88E00-3DF1-469C-B144-E215FA443ACE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219F1B-3277-4ABD-BDA1-FC09BA47EC07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7D5B31-3B42-419E-ACB9-BBCC25AFE994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E025B75E-B287-4BAF-BFD9-1A689B327EA2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910461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37DEDBB-385F-40B6-9405-DC404A46FFA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AA9D6"/>
                </a:solidFill>
              </a:defRPr>
            </a:pPr>
            <a:r>
              <a:rPr sz="1050" b="1">
                <a:solidFill>
                  <a:srgbClr val="5AA9D6"/>
                </a:solidFill>
              </a:rPr>
              <a:t>第 17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C1EE08-62EA-4A93-9270-E7AE14F8189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挫折是學習的一部分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3FB3D95-9244-4DF2-A477-2C44A06784E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5AA9D6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ADF2F34-CB8D-47E6-9EC9-2403A58422A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B558EC-47BC-45C8-BDAF-40A684D06ED8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AA9D6"/>
                </a:solidFill>
              </a:defRPr>
            </a:pPr>
            <a:r>
              <a:rPr sz="1800" b="1">
                <a:solidFill>
                  <a:srgbClr val="5AA9D6"/>
                </a:solidFill>
              </a:rPr>
              <a:t>故事｜還沒解出的謎題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A89FD0-8563-457F-B98B-841FCDEEB1D0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小芸連續三次解不出數學謎題，脫口說「我不會！」老師陪她改成「我還不會，我可以先畫圖、請同伴提示，再試一次」。她沒有假裝不難，而是把挫折拆成下一個做得到的小步驟。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282E4F-4789-475E-B6E1-6DCF28035BF4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799ED3-9A59-40BE-83EB-76A581C98350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9E0897-6796-405B-AF5F-42100D73EA6A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89B4DE-0E5C-4B41-A955-1AB34BD41D25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8CFD39-D3A3-412F-88B2-BFFE822F0FE4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能辨識挫折感，使用成長型語句與可行的小步驟繼續嘗試。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8640287-43BB-44F8-A06E-422AB210730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20E91514-1D46-4144-9FB0-9C70BE9F8007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759195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0BE2547-8C78-4870-8AD1-E91EB9086F7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AA9D6"/>
                </a:solidFill>
              </a:defRPr>
            </a:pPr>
            <a:r>
              <a:rPr sz="1050" b="1">
                <a:solidFill>
                  <a:srgbClr val="5AA9D6"/>
                </a:solidFill>
              </a:rPr>
              <a:t>第 17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573397-ACEB-414B-A766-4B360FD7F98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5710BA8-83E0-4B7C-B04E-A1E8FED94CE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5AA9D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417D2C-5058-4EC9-A367-89C883A5B057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B7C7A8-C7EA-4CDA-9A1A-DBD88E9661CA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3F516D-B93C-4E44-B538-9333043B55DF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572937-99B0-4FE8-80A0-F88F548D9B68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D3E483E-B75E-408A-BB2C-09E41E556669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AB53DE3-C7A3-4049-B8C7-9EFB90BE9115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956DA4-A3F3-4E42-8280-F5F47DB302A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8DD0BD-9C6F-4343-87B8-D727124EC052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平板把固定型語句改成成長型語句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818A4B-AE6E-49B8-B4CB-0C3702EF9EC6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8F7A598-62EC-466B-BB97-3D64048EDF65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C5B159E-6B5B-42A3-B877-104904E794DE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8C890D-42D1-4D9F-80CC-1EF0A05E1E20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52F3F7-ED96-4EF3-95C8-D9459D524415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示範「我不會」改為「我還不會，我可以先練習……」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B6D047-3730-45AC-89C8-55D01F23035F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117DD402-FB5A-44DA-85BC-FFB807A0514E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27C069F-8E45-49E2-90FC-A889E2DC2DE9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3B4ED0-20F9-4628-A196-E1C5E26768EE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AADE92-AF1E-43D2-A24D-EE7CA38C375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分享學習挫折並設計下一步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A20F25-59F9-40D1-B7FE-E7B2B75EE0E8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1BFD881-AC63-4A89-837A-2628FA46BCF0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2CE9F6B-6FE9-4113-86F2-69EF2ED6E365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BBE6C6-2B7E-406B-A858-291485627A46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043932-C37C-4C8D-9089-A2C8410994B2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發表成長型語句與行動方案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A9DE5E-47EF-4455-B428-565A42F8A5BC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746D2EE1-122E-4A89-84E3-E2B2272A2F9B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7C258E90-0329-40AA-89BD-0619C687A0AA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F9820E-BAA9-42BB-B5A2-C3E14E9733A2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ED8FF2-72C7-4B6A-9C17-065E19373BE6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討論求助不是失敗，而是學習策略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DB23A3-1D7F-4696-889F-EE354F457AC8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FB5261B6-EAE2-4768-9224-984DA64DEDBA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DB16A420-EC34-492D-83B7-7E1F5A2E4FC6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D24EB1-4312-4B29-9377-1F2C3883FAFA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EFE625-F97F-4F9F-AC08-84E815F0CAAC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寫下自己的「還沒做到」目標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E597F00-F0EF-4766-AAC6-6DA23C651B57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0B3D819-AD23-467F-A76F-61BE4668C9CA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70D0E4D-5D67-4DBB-AA06-1F7D55059CF4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7C735353-5990-4280-B12B-3498969A78B2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399089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56A4704-9FC4-4A3A-BFE0-2E28E32F28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9DCC8"/>
                </a:solidFill>
              </a:defRPr>
            </a:pPr>
            <a:r>
              <a:rPr sz="1050" b="1">
                <a:solidFill>
                  <a:srgbClr val="A9DCC8"/>
                </a:solidFill>
              </a:rPr>
              <a:t>第 18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2D9B9C-C623-48F0-891A-19D58C92E1E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欣賞自己，也欣賞別人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7B1AFE9-B055-470B-8A01-5299BC54599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A9DCC8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CCD6170-3A86-4BEE-81A6-18014EE8671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43308F-BBF2-4FF3-ACEE-A7EFA75E2C67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A9DCC8"/>
                </a:solidFill>
              </a:defRPr>
            </a:pPr>
            <a:r>
              <a:rPr sz="1800" b="1">
                <a:solidFill>
                  <a:srgbClr val="A9DCC8"/>
                </a:solidFill>
              </a:rPr>
              <a:t>故事｜安靜的幫手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0592B5-F952-4CB0-BEC7-1A8C6B21BFD4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小組展示時，小豪不太會發表，卻默默幫大家整理材料、提醒時間。組員沒有只說「你好棒」，而是具體說：「你把材料分好，讓我們準時完成。」小豪也學會說：「謝謝你的肯定。」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B1AD5F-1C0D-4FB6-9156-75B26444A8F7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EC423D-44BA-4FDF-8CEF-D61588FB9346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B1FB0DC-E560-4CAB-8E87-856D186ACE5B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FEB05E-F975-49DA-8469-DEED9E44B1D8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7148B3-2AB4-48E2-A67E-A763BF5515A8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能說出自己的優點或努力，也能具體肯定同伴。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A7668CF-5A53-4EFC-96DC-CA0F197EBB0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B328D78C-B8D7-4801-8BB0-D89DAE6DE4F3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085916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C725D98F-813B-4D74-BB0B-DA988B7DDCE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9DCC8"/>
                </a:solidFill>
              </a:defRPr>
            </a:pPr>
            <a:r>
              <a:rPr sz="1050" b="1">
                <a:solidFill>
                  <a:srgbClr val="A9DCC8"/>
                </a:solidFill>
              </a:rPr>
              <a:t>第 18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F3A70B-F66F-4302-BD1E-45E94FE5326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189C486-0FAD-4576-9F8A-43B2234D240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A9DCC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CFC67E-77C1-4DC7-9AD0-B288A1D042F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3E2BFF-6EBA-40F8-A107-39D0CFDFD035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44518E-2B3A-446D-A5D9-15684FCEEB61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50B0AB-16C8-48D3-A504-0A5842F8814C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8D68E4F-729F-46B3-B114-F197A7529951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F6C7601-5B33-48F1-BA9F-9342F6F57D66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0F26CA-D69A-4F22-8163-B898F37B6046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A8489A-EE44-41CE-8C62-8E6CA8F88BFC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平板配對「行為與優點」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01AFD5-E92D-4EC2-87B3-AE670FA22D05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91FE270-8B0B-42B7-B99B-50D9B35A6118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B148E26-BF85-455E-A905-20DB3A2151EC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247747-40DF-4C3E-8C66-4F38C3114436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8D3B9A-D6FE-419D-82BD-653D7743D8C3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說明欣賞努力與進步，不只看結果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616952-6FD6-4FD3-95E3-43A0CE9EC37E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73855B39-F56B-4946-A346-FE2D965B7F8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B5A0FA1-0992-4A48-8102-0252EC89B9F3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531DDB-C841-4AAB-97D1-C6329446AD7F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31755-40DF-4297-BA52-3930EDC508EA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製作「優點星球」，寫下具體優點或努力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9B35AE-3C5F-4FCE-82B6-7FF1F9EBB935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5A3AA5F6-17EC-42B0-8206-76E55F14028D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BE79715-D115-43A2-A499-92FEBF860B1A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81C340-D9C9-40C5-9D32-616BA73385EE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461E93-1B1E-4C9B-80F1-AC955C2C7244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發表一則正向回饋並練習回應謝謝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982B6C-76A7-423A-941E-07657C223730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1D66C14-2E11-47E8-9516-DB7CCD54F1B4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9B2AD281-1807-4706-839D-28A3CCEC7287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B886C3-1126-49D7-99AB-FE939ABD6285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0C801F-3913-497C-97A7-356D4B95FF85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分享被肯定時的感受與真誠回饋方法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458A1C-14BE-4A71-A594-511A9575F75B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4AC3F007-1C09-4D9D-AC64-335140FC85DA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896B4625-82E0-49A3-B466-3705EA7B9D8B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CD5CC9-BAD4-4B7F-AABE-7871D95AE7F0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38E1EC-4FEA-4DB8-9D57-9C5FD28DF4D9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完成自我肯定句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E022B16-7C7C-44B9-B6BB-547D8C240DCC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2C6A1EB-2FD2-4D1E-931C-74B9217DB936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97F4F53-2E59-4B14-8674-49F90865B62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78C8B4E5-03F7-4AC3-B428-DDC826818629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9517858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FFA751F-9E08-4BDE-B00E-544E3A7B37B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19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68EC07-F487-4120-9D8F-F69177A7AE5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我的社會情緒工具箱總整理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90D4F39F-A911-40E5-B093-B91DE3793E4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F769CAA-825A-4DB7-BB3E-C3FC0231FE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63F4CA-C933-4D11-9C75-9FEE00C62CCF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26B5B"/>
                </a:solidFill>
              </a:defRPr>
            </a:pPr>
            <a:r>
              <a:rPr sz="1800" b="1">
                <a:solidFill>
                  <a:srgbClr val="F26B5B"/>
                </a:solidFill>
              </a:rPr>
              <a:t>故事｜午餐時間的連鎖問題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0901B6-2592-477D-88EB-048DE55E6865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午餐時，小莉發現朋友被排除，自己又因餐盒打翻而生氣。她先辨識情緒與身體訊號，做冷靜呼吸，再用同理和我訊息詢問朋友，最後和大家討論公平的座位安排。五大能力在一個情境中連起來了。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B9C7D5-C19E-4D6D-8F24-891B3573A7BD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2650ED-41AD-406C-85D9-6F6400A3DDAC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DD7D16-DE9E-469E-9040-0325EEC8E968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F2039E-F0B2-4E61-87AF-AFA2317354A8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530E68-6555-4011-B9F7-49ABB702D608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能整合情緒辨識、調節、同理、溝通與決策策略。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5EBA4B1-9FEB-469B-BE4B-FDAF1CA6033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57B02D84-3265-49C6-87CC-C8815D1CFB9D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763721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4CB5071-16B3-48D0-A038-265AEDB0E5E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第 19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1A880B-DEE9-42DC-9544-A548A10EA17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DB64AB3F-5C15-4EF1-85C0-479FAD47A0D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E418F9-4DA5-45AF-9D00-DD34446FE641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9AA5D5-8814-4D40-A335-698C7BE45122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3E76A3-29C5-4739-83A8-63A134DA1ACB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109CC5-835D-42F3-BBA0-4A668A1D3175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30F8A13-5F64-460E-9701-747BD4E70074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1BEF3A5-E771-44D7-8884-40D6B94F1BF2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7F973B-9D67-451C-9505-6D2F9F76CAF0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B81F5C-5033-40A3-903D-1AE699BC0D1A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平板闖關複習五大能力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A56486-AF2C-45DD-949D-B5F510BB7936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0E70923-1C0A-48E5-8CFD-C2C88A9E1A4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AA1AC71-818A-4A09-902D-B47BE35671FC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B31555-AC69-4B33-BCC0-A9C4E40294F8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F3D341-E8C1-4F16-9DB6-9F0FEC3FB5B4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整理「先理解自己，再理解別人，最後做負責任的事」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8D06A4-B3E6-4D00-AB6B-A6EE78EB560E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FCCD8E6-B851-4761-95CE-4C9A7845D033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12E48E4-5AC3-4F7C-A043-D1E92AE7696F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8175FE-0513-4900-9145-B8615CF68709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A20A81-2257-4E24-84CA-69CDBC31BA6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完成從辨識情緒到提出解決方案的綜合情境任務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95DD39-F7BB-4CB6-A479-2E37BF5E59C9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7906B7DE-9133-4036-9C2F-7107F1C29007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7938EA01-5DAE-4D72-8B9D-5CAE44112C38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6DBD3A-A58F-42B1-B490-089BBC81DC05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5CAB98-3E09-4722-8786-C4409710B7F6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發表完整處理流程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724B77-DEFA-4AFE-B73A-3AB40AE4F3ED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CD5FFF6B-9F49-4EBD-A6E3-5AB40C3DDB29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C97D212-B3CD-44F5-9BB8-545D3FE868A7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02023C-B49D-41B0-AE57-7A54EB8CAFF8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C7323B-66CA-43F9-BFE7-7EA7CF2B5274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用安全、尊重、有效三指標互評方案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E61F7F-FF97-4C28-A116-FCF4D0AAFAD9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5B422C69-FF68-4274-BCAE-9E030EE4E217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03DE01D6-664E-4DCE-BCB5-490839FC88B8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B8BB2CD-B93C-4A3D-A955-11D082718F90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D4720D-EB4A-42D0-A231-42C87AD9707F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選出最有用的一項工具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1D8CA95-BB38-4FDE-815A-98AF37B94C61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49C566E-2238-4383-9E8F-DEEF0B26124F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A9B391C-2A36-4142-A11A-59C3EA771A3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DE3A65A5-4BDA-4B15-8700-D0DAF2CC769C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7248732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628D947-425F-41FC-884B-7B1B397231C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20 節｜情境故事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6CCED4-84B9-4234-B225-2CA3DEB2B82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友善班級行動發表會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DC4A17A-D5D2-4D7B-86DD-0D301F99ECD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2CD68CD-87A9-4BDA-90C9-433BD300DE5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48615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5C8D95-EBDC-4298-BF35-831110366C18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D9C95"/>
                </a:solidFill>
              </a:defRPr>
            </a:pPr>
            <a:r>
              <a:rPr sz="1800" b="1">
                <a:solidFill>
                  <a:srgbClr val="2D9C95"/>
                </a:solidFill>
              </a:rPr>
              <a:t>故事｜讓下課更友善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569AAC-C921-4364-BB75-42A781B60B19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4324A"/>
                </a:solidFill>
              </a:defRPr>
            </a:pPr>
            <a:r>
              <a:rPr sz="1725" b="1">
                <a:solidFill>
                  <a:srgbClr val="24324A"/>
                </a:solidFill>
              </a:rPr>
              <a:t>班上發現下課時常有人插隊、有人找不到同伴，也有人因平板訊息不舒服。各組回顧 20 節所學，提出三項行動：排隊提醒、邀請同伴加入、遇到不舒服訊息先停下並求助。最後全班票選能立即做到的班級約定。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BC1F26-49A3-41F0-8BDE-D46A480B52AF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引導問題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ECFE76-9D66-4DD4-80D5-6679281A0E7E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7664A9"/>
                </a:solidFill>
              </a:defRPr>
            </a:pPr>
            <a:r>
              <a:rPr sz="1500" b="0">
                <a:solidFill>
                  <a:srgbClr val="7664A9"/>
                </a:solidFill>
              </a:rPr>
              <a:t>你注意到角色的什麼線索？如果是你，下一步會怎麼做？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4BA444A-0452-4AA6-B037-F632B50F2505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810000" cy="1752600"/>
          </a:xfrm>
          <a:prstGeom prst="roundRect">
            <a:avLst>
              <a:gd name="adj" fmla="val 8696"/>
            </a:avLst>
          </a:prstGeom>
          <a:solidFill>
            <a:srgbClr val="FFF0E9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257998-EAB3-407D-B211-9719C946B783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本節學習焦點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52E6F8-6BDE-4939-BF77-9E4855CBE1EB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28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4324A"/>
                </a:solidFill>
              </a:defRPr>
            </a:pPr>
            <a:r>
              <a:rPr sz="1500" b="1">
                <a:solidFill>
                  <a:srgbClr val="24324A"/>
                </a:solidFill>
              </a:rPr>
              <a:t>能回顧 20 節學習，提出可實踐的班級友善行動，並承擔個人責任。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rcRect t="6667" b="6667"/>
          <a:stretch>
            <a:fillRect/>
          </a:stretch>
        </p:blipFill>
        <p:spPr>
          <a:xfrm>
            <a:off x="7696200" y="3790950"/>
            <a:ext cx="3810000" cy="2476500"/>
          </a:xfrm>
          <a:prstGeom prst="roundRect">
            <a:avLst>
              <a:gd name="adj" fmla="val 615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4414FCB-FCA4-473D-A950-DD56399A7458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16" name="copyright-attribution">
            <a:extLst>
              <a:ext uri="{FF2B5EF4-FFF2-40B4-BE49-F238E27FC236}">
                <a16:creationId xmlns:a16="http://schemas.microsoft.com/office/drawing/2014/main" id="{6A7F66E3-E6FC-4193-9208-47DAB1FBA99E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47575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67FB7BB8-96BC-4915-9B19-21D929DB997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2D9C95"/>
                </a:solidFill>
              </a:defRPr>
            </a:pPr>
            <a:r>
              <a:rPr sz="1050" b="1">
                <a:solidFill>
                  <a:srgbClr val="2D9C95"/>
                </a:solidFill>
              </a:rPr>
              <a:t>第 20 節｜故事教學節奏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0F2D47-1226-4712-A0B9-E0E2450DA26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讓故事在 40 分鐘內走完一個學習循環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5B5C7C4-6423-483B-8291-675C7F06F3E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2D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A5F697-2C67-459D-A6DF-F312D43C6285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DF5614-4FE0-431A-B11C-08786C764FAC}"/>
              </a:ext>
            </a:extLst>
          </p:cNvPr>
          <p:cNvSpPr>
            <a:spLocks noGrp="1"/>
          </p:cNvSpPr>
          <p:nvPr/>
        </p:nvSpPr>
        <p:spPr>
          <a:xfrm>
            <a:off x="1733550" y="1619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從故事走向活動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0311D5-F66A-4D57-8392-531D4EC855AF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時間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5AE8DB-727C-4468-8BF6-24AD62691DD6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從活動留下行動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F82DF16-2FE5-4454-ACEE-FF239B7A355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D9C9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5F7BEFB-C128-4118-BF2F-54E8656AE886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2D9C95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6E72D6-6AC1-449E-A786-95DA78CF6DE2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498D44-17B9-4116-9A26-D51B03220D89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平板總挑戰測驗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5603D3-DEFB-414B-BFDE-61A02638E149}"/>
              </a:ext>
            </a:extLst>
          </p:cNvPr>
          <p:cNvSpPr>
            <a:spLocks noGrp="1"/>
          </p:cNvSpPr>
          <p:nvPr/>
        </p:nvSpPr>
        <p:spPr>
          <a:xfrm>
            <a:off x="18097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教學動作｜看見線索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542400E-2ABE-4333-91B0-CFC44F7E17EE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6C453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BAA0A72-8559-4BD6-A280-9D29AF7506FB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6C453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9E47EC-EF67-4853-B4E5-5F983669DACD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5150EA-D8E0-4A31-8F15-AAB59CB4B3AE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回顧五大能力與班級目前需要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940C19-09FA-43FE-8FB4-C5BB34984028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教學動作｜教師示範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8838306-6FF6-4006-827C-08CEF3F0C721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7664A9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D7266A7-6D1A-486E-9D8F-1950D4921BE9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7664A9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C99F94-DC64-4605-966C-178566768E5E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 分鐘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43A65A-5FF0-49D5-A8A4-363224139F72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製作「友善班級三項行動」海報或數位簡報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0996EB9-5A84-4BD6-B2AC-CD7D9FB96AD0}"/>
              </a:ext>
            </a:extLst>
          </p:cNvPr>
          <p:cNvSpPr>
            <a:spLocks noGrp="1"/>
          </p:cNvSpPr>
          <p:nvPr/>
        </p:nvSpPr>
        <p:spPr>
          <a:xfrm>
            <a:off x="18097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教學動作｜小組試做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811EA989-9665-42DA-8480-1C4A5F093AF8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5AA9D6"/>
            </a:solidFill>
            <a:prstDash val="solid"/>
          </a:ln>
        </p:spPr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3E6827F-F022-4C7A-8398-A771D30BD31D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5AA9D6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4AE7EC-4EDB-431F-9EB5-106B119AA831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 分鐘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9BC408-F197-4110-B38D-6D99D27EEBC3}"/>
              </a:ext>
            </a:extLst>
          </p:cNvPr>
          <p:cNvSpPr>
            <a:spLocks noGrp="1"/>
          </p:cNvSpPr>
          <p:nvPr/>
        </p:nvSpPr>
        <p:spPr>
          <a:xfrm>
            <a:off x="7448550" y="21717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發表行動方案，其他組用一句話回饋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F88929-A6C4-40E2-A18A-F35B320CCF29}"/>
              </a:ext>
            </a:extLst>
          </p:cNvPr>
          <p:cNvSpPr>
            <a:spLocks noGrp="1"/>
          </p:cNvSpPr>
          <p:nvPr/>
        </p:nvSpPr>
        <p:spPr>
          <a:xfrm>
            <a:off x="7448550" y="27432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教學動作｜說出理由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1B60D2D8-CBB7-46E0-ADA4-EA591A308471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9DCC8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AD3DDE0E-D4CD-4898-8807-FB1C46DFE896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A9DCC8"/>
          </a:solidFill>
          <a:ln w="9525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5A56E12-3469-4777-B00C-2721FCEFEA44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 分鐘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04B96A3-544C-4997-A13F-4BEAE2A2D3B6}"/>
              </a:ext>
            </a:extLst>
          </p:cNvPr>
          <p:cNvSpPr>
            <a:spLocks noGrp="1"/>
          </p:cNvSpPr>
          <p:nvPr/>
        </p:nvSpPr>
        <p:spPr>
          <a:xfrm>
            <a:off x="7448550" y="352425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票選可立即執行的班級行動並形成約定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A30D4F-C191-4B44-8A5C-85FE360B2BE4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教學動作｜連回生活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C6BF21F3-CF41-40A4-AE93-91E3B415833B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51816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691606C8-9BEF-4446-A084-06782ECC6FFE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800100" cy="36195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2758CF-8013-4C67-A061-444AAA4AE1B0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分鐘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10A5E82-8FAF-48B8-8A35-D292E9FBE123}"/>
              </a:ext>
            </a:extLst>
          </p:cNvPr>
          <p:cNvSpPr>
            <a:spLocks noGrp="1"/>
          </p:cNvSpPr>
          <p:nvPr/>
        </p:nvSpPr>
        <p:spPr>
          <a:xfrm>
            <a:off x="7448550" y="4876800"/>
            <a:ext cx="377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4324A"/>
                </a:solidFill>
              </a:defRPr>
            </a:pPr>
            <a:r>
              <a:rPr sz="1275" b="1">
                <a:solidFill>
                  <a:srgbClr val="24324A"/>
                </a:solidFill>
              </a:rPr>
              <a:t>完成個人承諾卡並帶回持續實踐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3BFAFD-BA85-4003-B619-F155C3D849CF}"/>
              </a:ext>
            </a:extLst>
          </p:cNvPr>
          <p:cNvSpPr>
            <a:spLocks noGrp="1"/>
          </p:cNvSpPr>
          <p:nvPr/>
        </p:nvSpPr>
        <p:spPr>
          <a:xfrm>
            <a:off x="7448550" y="5448300"/>
            <a:ext cx="377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教學動作｜留下一句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C4CAB7F-2E43-4CF0-B438-A954FF66443C}"/>
              </a:ext>
            </a:extLst>
          </p:cNvPr>
          <p:cNvSpPr>
            <a:spLocks noGrp="1"/>
          </p:cNvSpPr>
          <p:nvPr/>
        </p:nvSpPr>
        <p:spPr>
          <a:xfrm>
            <a:off x="1066800" y="62103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664A9"/>
                </a:solidFill>
              </a:defRPr>
            </a:pPr>
            <a:r>
              <a:rPr sz="1350" b="1">
                <a:solidFill>
                  <a:srgbClr val="7664A9"/>
                </a:solidFill>
              </a:rPr>
              <a:t>提醒：平板是暖身；故事討論與小組任務才是學習的主體。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418C4BE-9B51-465E-BBC7-F7FF2882BD0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國小三年級社會情緒學習｜SEL 情緒小隊</a:t>
            </a:r>
          </a:p>
        </p:txBody>
      </p:sp>
      <p:sp>
        <p:nvSpPr>
          <p:cNvPr id="41" name="copyright-attribution">
            <a:extLst>
              <a:ext uri="{FF2B5EF4-FFF2-40B4-BE49-F238E27FC236}">
                <a16:creationId xmlns:a16="http://schemas.microsoft.com/office/drawing/2014/main" id="{D8E0791B-7172-4FFF-8460-5A58AC284924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924477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730D812-BD3B-4431-9317-0636A63F88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F26B5B"/>
                </a:solidFill>
              </a:defRPr>
            </a:pPr>
            <a:r>
              <a:rPr sz="1050" b="1">
                <a:solidFill>
                  <a:srgbClr val="F26B5B"/>
                </a:solidFill>
              </a:rPr>
              <a:t>教師收束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437BB5-2014-4151-9F5B-9AE567F1B6F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24324A"/>
                </a:solidFill>
              </a:defRPr>
            </a:pPr>
            <a:r>
              <a:rPr sz="2700" b="1">
                <a:solidFill>
                  <a:srgbClr val="24324A"/>
                </a:solidFill>
              </a:rPr>
              <a:t>用一個故事，把方法帶回明天的班級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52F1343-80BD-44D6-93D3-55E8B4A29E6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F26B5B"/>
            </a:solidFill>
            <a:prstDash val="solid"/>
          </a:ln>
        </p:spPr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685800" y="1885950"/>
            <a:ext cx="3143250" cy="3143250"/>
          </a:xfrm>
          <a:prstGeom prst="roundRect">
            <a:avLst>
              <a:gd name="adj" fmla="val 4848"/>
            </a:avLst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FAC2BB0D-72F2-4EE8-BB53-ED6F2B28C07B}"/>
              </a:ext>
            </a:extLst>
          </p:cNvPr>
          <p:cNvSpPr>
            <a:spLocks noGrp="1"/>
          </p:cNvSpPr>
          <p:nvPr/>
        </p:nvSpPr>
        <p:spPr>
          <a:xfrm>
            <a:off x="4286250" y="1885950"/>
            <a:ext cx="721995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F26B5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A20027-E336-4786-B70D-1D4D8C13DD2A}"/>
              </a:ext>
            </a:extLst>
          </p:cNvPr>
          <p:cNvSpPr>
            <a:spLocks noGrp="1"/>
          </p:cNvSpPr>
          <p:nvPr/>
        </p:nvSpPr>
        <p:spPr>
          <a:xfrm>
            <a:off x="4686300" y="230505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4324A"/>
                </a:solidFill>
              </a:defRPr>
            </a:pPr>
            <a:r>
              <a:rPr sz="1950" b="1">
                <a:solidFill>
                  <a:srgbClr val="24324A"/>
                </a:solidFill>
              </a:rPr>
              <a:t>講故事不是增加時間，而是讓每個活動有理由。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58B924-E893-4DCC-B8DD-C32E90E0A165}"/>
              </a:ext>
            </a:extLst>
          </p:cNvPr>
          <p:cNvSpPr>
            <a:spLocks noGrp="1"/>
          </p:cNvSpPr>
          <p:nvPr/>
        </p:nvSpPr>
        <p:spPr>
          <a:xfrm>
            <a:off x="4686300" y="3143250"/>
            <a:ext cx="609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664A9"/>
                </a:solidFill>
              </a:defRPr>
            </a:pPr>
            <a:r>
              <a:rPr sz="1875" b="1">
                <a:solidFill>
                  <a:srgbClr val="7664A9"/>
                </a:solidFill>
              </a:rPr>
              <a:t>每節結束前，請學生完成：</a:t>
            </a:r>
          </a:p>
          <a:p>
            <a:pPr algn="l">
              <a:buNone/>
              <a:defRPr sz="1875" b="1">
                <a:solidFill>
                  <a:srgbClr val="7664A9"/>
                </a:solidFill>
              </a:defRPr>
            </a:pPr>
            <a:r>
              <a:rPr sz="1875" b="1">
                <a:solidFill>
                  <a:srgbClr val="7664A9"/>
                </a:solidFill>
              </a:rPr>
              <a:t>「我會在＿＿情境，使用＿＿方法，讓班級更＿＿。」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5EC76-D6E9-4909-9BFB-7EBF33798AD1}"/>
              </a:ext>
            </a:extLst>
          </p:cNvPr>
          <p:cNvSpPr>
            <a:spLocks noGrp="1"/>
          </p:cNvSpPr>
          <p:nvPr/>
        </p:nvSpPr>
        <p:spPr>
          <a:xfrm>
            <a:off x="4686300" y="459105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5D6B7E"/>
                </a:solidFill>
              </a:defRPr>
            </a:pPr>
            <a:r>
              <a:rPr sz="1500" b="0">
                <a:solidFill>
                  <a:srgbClr val="5D6B7E"/>
                </a:solidFill>
              </a:rPr>
              <a:t>保留 2 分鐘，讓學習從投影片走進生活。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DFBCB9-8AB5-4048-9BB6-618331A89E54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D6B7E"/>
                </a:solidFill>
              </a:defRPr>
            </a:pPr>
            <a:r>
              <a:rPr sz="900" b="0">
                <a:solidFill>
                  <a:srgbClr val="5D6B7E"/>
                </a:solidFill>
              </a:rPr>
              <a:t>20 節情境故事完成｜配合整體課程與教案</a:t>
            </a:r>
          </a:p>
        </p:txBody>
      </p:sp>
      <p:sp>
        <p:nvSpPr>
          <p:cNvPr id="12" name="copyright-attribution">
            <a:extLst>
              <a:ext uri="{FF2B5EF4-FFF2-40B4-BE49-F238E27FC236}">
                <a16:creationId xmlns:a16="http://schemas.microsoft.com/office/drawing/2014/main" id="{DE70E3C5-DC2C-47C8-9C14-8CF5590E83C0}"/>
              </a:ext>
            </a:extLst>
          </p:cNvPr>
          <p:cNvSpPr>
            <a:spLocks noGrp="1"/>
          </p:cNvSpPr>
          <p:nvPr/>
        </p:nvSpPr>
        <p:spPr>
          <a:xfrm>
            <a:off x="9391650" y="6486525"/>
            <a:ext cx="2114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794"/>
                </a:solidFill>
              </a:defRPr>
            </a:pPr>
            <a:r>
              <a:rPr sz="825" b="0">
                <a:solidFill>
                  <a:srgbClr val="7B8794"/>
                </a:solidFill>
              </a:rPr>
              <a:t>仙姑凱西設計｜版權歸屬</a:t>
            </a:r>
          </a:p>
        </p:txBody>
      </p:sp>
    </p:spTree>
    <p:extLst>
      <p:ext uri="{BB962C8B-B14F-4D97-AF65-F5344CB8AC3E}">
        <p14:creationId xmlns:p14="http://schemas.microsoft.com/office/powerpoint/2010/main" val="17776637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3771</Words>
  <Application>Microsoft Office PowerPoint</Application>
  <DocSecurity>0</DocSecurity>
  <PresentationFormat>寬螢幕</PresentationFormat>
  <Paragraphs>907</Paragraphs>
  <Slides>43</Slides>
  <Notes>43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5" baseType="lpstr"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凱西 陳</cp:lastModifiedBy>
  <cp:revision>1</cp:revision>
  <dcterms:created xsi:type="dcterms:W3CDTF">2026-08-28T12:30:15Z</dcterms:created>
  <dcterms:modified xsi:type="dcterms:W3CDTF">2026-08-28T12:35:16Z</dcterms:modified>
</cp:coreProperties>
</file>