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e9edd7c9b54122" /><Relationship Type="http://schemas.openxmlformats.org/officeDocument/2006/relationships/extended-properties" Target="/docProps/app.xml" Id="R758439fe21b94c89" /><Relationship Type="http://schemas.openxmlformats.org/officeDocument/2006/relationships/officeDocument" Target="/ppt/presentation.xml" Id="R5aa1bf4b187c41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534bd7e1124248"/>
  </p:sldMasterIdLst>
  <p:notesMasterIdLst>
    <p:notesMasterId xmlns:r="http://schemas.openxmlformats.org/officeDocument/2006/relationships" r:id="Re9648413cc3b4c56"/>
  </p:notesMasterIdLst>
  <p:sldIdLst>
    <p:sldId xmlns:r="http://schemas.openxmlformats.org/officeDocument/2006/relationships" id="256" r:id="R3cf978d5ad4743bd"/>
    <p:sldId xmlns:r="http://schemas.openxmlformats.org/officeDocument/2006/relationships" id="257" r:id="Re26c8768c3814522"/>
    <p:sldId xmlns:r="http://schemas.openxmlformats.org/officeDocument/2006/relationships" id="258" r:id="R946d71197efa429d"/>
    <p:sldId xmlns:r="http://schemas.openxmlformats.org/officeDocument/2006/relationships" id="259" r:id="R11811ea398584c62"/>
    <p:sldId xmlns:r="http://schemas.openxmlformats.org/officeDocument/2006/relationships" id="260" r:id="R6811c07ba6964660"/>
    <p:sldId xmlns:r="http://schemas.openxmlformats.org/officeDocument/2006/relationships" id="261" r:id="Reb0825302dc147b7"/>
    <p:sldId xmlns:r="http://schemas.openxmlformats.org/officeDocument/2006/relationships" id="262" r:id="Ra6f97b62fe5a4873"/>
    <p:sldId xmlns:r="http://schemas.openxmlformats.org/officeDocument/2006/relationships" id="263" r:id="R9a4672ddbde74128"/>
    <p:sldId xmlns:r="http://schemas.openxmlformats.org/officeDocument/2006/relationships" id="264" r:id="R1e94e99495d64497"/>
    <p:sldId xmlns:r="http://schemas.openxmlformats.org/officeDocument/2006/relationships" id="265" r:id="R47b76d4b8c30452f"/>
    <p:sldId xmlns:r="http://schemas.openxmlformats.org/officeDocument/2006/relationships" id="266" r:id="R742710ef4856426d"/>
    <p:sldId xmlns:r="http://schemas.openxmlformats.org/officeDocument/2006/relationships" id="267" r:id="Re781ded5dcc94014"/>
    <p:sldId xmlns:r="http://schemas.openxmlformats.org/officeDocument/2006/relationships" id="268" r:id="R996bd86b04d242be"/>
    <p:sldId xmlns:r="http://schemas.openxmlformats.org/officeDocument/2006/relationships" id="269" r:id="R950d3314c6064758"/>
    <p:sldId xmlns:r="http://schemas.openxmlformats.org/officeDocument/2006/relationships" id="270" r:id="R2f8dbc48f66a4809"/>
    <p:sldId xmlns:r="http://schemas.openxmlformats.org/officeDocument/2006/relationships" id="271" r:id="R3f498eb17ffe4a2a"/>
    <p:sldId xmlns:r="http://schemas.openxmlformats.org/officeDocument/2006/relationships" id="272" r:id="Re4690a8056b74a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494407f15f41e3" /><Relationship Type="http://schemas.openxmlformats.org/officeDocument/2006/relationships/slideMaster" Target="/ppt/slideMasters/slideMaster1.xml" Id="R43534bd7e1124248" /><Relationship Type="http://schemas.openxmlformats.org/officeDocument/2006/relationships/notesMaster" Target="/ppt/notesMasters/notesMaster1.xml" Id="Re9648413cc3b4c56" /><Relationship Type="http://schemas.openxmlformats.org/officeDocument/2006/relationships/presProps" Target="/ppt/presProps.xml" Id="Rc81dea3ecb4441cf" /><Relationship Type="http://schemas.openxmlformats.org/officeDocument/2006/relationships/viewProps" Target="/ppt/viewProps.xml" Id="R79ca43d7a37741fc" /><Relationship Type="http://schemas.openxmlformats.org/officeDocument/2006/relationships/tableStyles" Target="/ppt/tableStyles.xml" Id="R393a64631d044a9f" /><Relationship Type="http://schemas.openxmlformats.org/officeDocument/2006/relationships/slide" Target="/ppt/slides/slide1.xml" Id="R3cf978d5ad4743bd" /><Relationship Type="http://schemas.openxmlformats.org/officeDocument/2006/relationships/slide" Target="/ppt/slides/slide2.xml" Id="Re26c8768c3814522" /><Relationship Type="http://schemas.openxmlformats.org/officeDocument/2006/relationships/slide" Target="/ppt/slides/slide3.xml" Id="R946d71197efa429d" /><Relationship Type="http://schemas.openxmlformats.org/officeDocument/2006/relationships/slide" Target="/ppt/slides/slide4.xml" Id="R11811ea398584c62" /><Relationship Type="http://schemas.openxmlformats.org/officeDocument/2006/relationships/slide" Target="/ppt/slides/slide5.xml" Id="R6811c07ba6964660" /><Relationship Type="http://schemas.openxmlformats.org/officeDocument/2006/relationships/slide" Target="/ppt/slides/slide6.xml" Id="Reb0825302dc147b7" /><Relationship Type="http://schemas.openxmlformats.org/officeDocument/2006/relationships/slide" Target="/ppt/slides/slide7.xml" Id="Ra6f97b62fe5a4873" /><Relationship Type="http://schemas.openxmlformats.org/officeDocument/2006/relationships/slide" Target="/ppt/slides/slide8.xml" Id="R9a4672ddbde74128" /><Relationship Type="http://schemas.openxmlformats.org/officeDocument/2006/relationships/slide" Target="/ppt/slides/slide9.xml" Id="R1e94e99495d64497" /><Relationship Type="http://schemas.openxmlformats.org/officeDocument/2006/relationships/slide" Target="/ppt/slides/slide10.xml" Id="R47b76d4b8c30452f" /><Relationship Type="http://schemas.openxmlformats.org/officeDocument/2006/relationships/slide" Target="/ppt/slides/slide11.xml" Id="R742710ef4856426d" /><Relationship Type="http://schemas.openxmlformats.org/officeDocument/2006/relationships/slide" Target="/ppt/slides/slide12.xml" Id="Re781ded5dcc94014" /><Relationship Type="http://schemas.openxmlformats.org/officeDocument/2006/relationships/slide" Target="/ppt/slides/slide13.xml" Id="R996bd86b04d242be" /><Relationship Type="http://schemas.openxmlformats.org/officeDocument/2006/relationships/slide" Target="/ppt/slides/slide14.xml" Id="R950d3314c6064758" /><Relationship Type="http://schemas.openxmlformats.org/officeDocument/2006/relationships/slide" Target="/ppt/slides/slide15.xml" Id="R2f8dbc48f66a4809" /><Relationship Type="http://schemas.openxmlformats.org/officeDocument/2006/relationships/slide" Target="/ppt/slides/slide16.xml" Id="R3f498eb17ffe4a2a" /><Relationship Type="http://schemas.openxmlformats.org/officeDocument/2006/relationships/slide" Target="/ppt/slides/slide17.xml" Id="Re4690a8056b74a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ccfa6117fe45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2f087189944c57" /><Relationship Type="http://schemas.openxmlformats.org/officeDocument/2006/relationships/notesMaster" Target="/ppt/notesMasters/notesMaster1.xml" Id="R5ca1ae92a30240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17f44617554e9c" /><Relationship Type="http://schemas.openxmlformats.org/officeDocument/2006/relationships/notesMaster" Target="/ppt/notesMasters/notesMaster1.xml" Id="R060176d6a95745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c80147366f4058" /><Relationship Type="http://schemas.openxmlformats.org/officeDocument/2006/relationships/notesMaster" Target="/ppt/notesMasters/notesMaster1.xml" Id="R68fa5ed7755f45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6da301d14e46c7" /><Relationship Type="http://schemas.openxmlformats.org/officeDocument/2006/relationships/notesMaster" Target="/ppt/notesMasters/notesMaster1.xml" Id="R1a43b79a64f64a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34461cd01148dc" /><Relationship Type="http://schemas.openxmlformats.org/officeDocument/2006/relationships/notesMaster" Target="/ppt/notesMasters/notesMaster1.xml" Id="R6ab3dcbd4fb943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18a0e02f584051" /><Relationship Type="http://schemas.openxmlformats.org/officeDocument/2006/relationships/notesMaster" Target="/ppt/notesMasters/notesMaster1.xml" Id="R6a7cec8b040340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1d4d54c4554d80" /><Relationship Type="http://schemas.openxmlformats.org/officeDocument/2006/relationships/notesMaster" Target="/ppt/notesMasters/notesMaster1.xml" Id="Rb489bae02d4548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d00e57fb1e45ad" /><Relationship Type="http://schemas.openxmlformats.org/officeDocument/2006/relationships/notesMaster" Target="/ppt/notesMasters/notesMaster1.xml" Id="R5e25b4a17b4e4e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fce1fd308b407b" /><Relationship Type="http://schemas.openxmlformats.org/officeDocument/2006/relationships/notesMaster" Target="/ppt/notesMasters/notesMaster1.xml" Id="Rd990dd61400541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fc1610cfca4455" /><Relationship Type="http://schemas.openxmlformats.org/officeDocument/2006/relationships/notesMaster" Target="/ppt/notesMasters/notesMaster1.xml" Id="R641ccf3a7cee4a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3c25583aacd48d8" /><Relationship Type="http://schemas.openxmlformats.org/officeDocument/2006/relationships/notesMaster" Target="/ppt/notesMasters/notesMaster1.xml" Id="R2266fff2450f4d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7a145b56594f5e" /><Relationship Type="http://schemas.openxmlformats.org/officeDocument/2006/relationships/notesMaster" Target="/ppt/notesMasters/notesMaster1.xml" Id="R08af462b83f7416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a1816860424f75" /><Relationship Type="http://schemas.openxmlformats.org/officeDocument/2006/relationships/notesMaster" Target="/ppt/notesMasters/notesMaster1.xml" Id="Reebf1c762a804f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a6d1a5e03bc4b44" /><Relationship Type="http://schemas.openxmlformats.org/officeDocument/2006/relationships/notesMaster" Target="/ppt/notesMasters/notesMaster1.xml" Id="R1e817e447dea4d2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48e61081be14e35" /><Relationship Type="http://schemas.openxmlformats.org/officeDocument/2006/relationships/notesMaster" Target="/ppt/notesMasters/notesMaster1.xml" Id="R42f111dd1338487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5b9b9e15d84d30" /><Relationship Type="http://schemas.openxmlformats.org/officeDocument/2006/relationships/notesMaster" Target="/ppt/notesMasters/notesMaster1.xml" Id="R68229cce62904e3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732869ad0a2469a" /><Relationship Type="http://schemas.openxmlformats.org/officeDocument/2006/relationships/notesMaster" Target="/ppt/notesMasters/notesMaster1.xml" Id="R316b3e539d9949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本頁是課程入口。先說明這套課程聚焦四個真實情境：身體與情緒變化、人際關係、網路資訊，以及升學與自我期待壓力。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開場可問：最近有沒有一件事情，讓你覺得「要先停一下再想」？學生可以回答一般情境，也可以選擇不分享個人經驗。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提醒：本教材不是醫療、心理治療或升學諮商教材。若學生提到受傷、霸凌、性騷擾、自傷或其他安全疑慮，課後依學校輔導與通報流程處理。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本頁用來引出課程需要。高年級學生可能同時面對身體變化、同儕目光、網路訊息與升學期待，教師可以先讓學生看見這些情境彼此會互相影響。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引導問題：同一件事為什麼可能同時影響心情、身體和人際關係？請學生從虛構情境或生活觀察回答，不要求揭露家庭或個人秘密。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本頁建立四個共同語言：辨識、調節、建立關係、負責任的決定。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教師說明：辨識是注意到情緒與身體訊號；調節是先讓自己回到能選擇的狀態；建立關係包含表達、傾聽與界線；負責任的決定要看見自己、他人與可能結果。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引導問題：如果少了其中一個能力，處理困擾時可能會遇到什麼困難？不要把任何能力說成個性好壞。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這一單元對應教學手冊 STEP 01 至 STEP 05，主題是青春期、生理期、情緒調節與求助。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教學重點：正常化身心變化，避免用性別刻板印象解釋情緒；討論生理期時保護隱私，不要求學生公開自己的經驗。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可搭配：身心照顧卡、匿名提問卡與「突然不舒服」情境卡。讓學生用虛構角色或一般情境回答，也可以只寫不發表。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這一單元對應 STEP 06 至 STEP 10，主題是友誼差異、界線、衝突與團體合作。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教師示範四步回應：先停一下，說出感受，聽見對方，再討論下一步。強調尊重界線不等於一味答應，也不要求學生自行處理霸凌或危險情境。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可搭配：人際回應卡與情境卡。角色演練使用虛構情境，不直接套用班級真實事件。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這一單元對應 STEP 11 至 STEP 15，主題是資訊查證、個資與影像、留言責任、數位平衡。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教師可固定使用四個查證問題：來源是誰、有哪些證據、日期為何、發布目的可能是什麼。再加入「先停、再查、再決定」的行動口訣。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提醒：討論網路事件時，不展示學生真實帳號、照片或對話紀錄。涉及威脅、影像散布或個資風險時，保留必要紀錄並找可信任的大人。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這一單元對應 STEP 16 至 STEP 20，主題是壓力訊號、自我支持、目標拆解與下一站行動。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教學重點：壓力是需要照顧的訊號，不是對個人價值的判決。協助學生把「我要變厲害」改成今天做得到的一小步，並保留備案與支持者。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可搭配：壓力導航圖與課程回顧學習單。若學生分享持續失眠、強烈低落或安全疑慮，避免在全班追問，課後依流程陪同求助。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本頁提供一節 40 分鐘的共同節奏：5 分鐘平板暖身、8 分鐘教師示範、12 分鐘小組任務、8 分鐘發表回饋、5 分鐘生活連結、2 分鐘個人收束。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教師可依班級狀況調整時間，但保留最後的個人收束，讓學生把策略轉成一句話或一個小行動。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備課提醒：先準備低風險參與方式，例如選項作答、匿名便利貼、書寫或觀察員角色。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教師在每一節課持續做三件事：把變化說成可以理解的經驗，保留學生選擇參與的空間，清楚指出可以求助的對象。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可用語句：每個人的速度可能不同；你可以選擇先寫不分享；遇到超出自己能處理的事，可以找可信任的大人。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避免用「勇敢就是自己撐住」或「大家都要分享」作為要求。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本頁把提問從追問原因，移到支持觀察與行動。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可依序問：你注意到什麼身體或情緒訊號？你現在需要什麼界線或幫助？下一步可以找誰一起處理？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如果學生不想回答，可以提供替代方式：圈選選項、寫下虛構角色的回答、只完成其中一題，或暫不分享。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情境故事的功能是練習判斷與回應，不是猜測故事對應到班上哪一位同學。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使用流程：先讀情境，請學生指出可觀察的線索，再討論不同回應可能帶來的結果，最後選一個安全且可行的下一步。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教師應避免要求學生把自己的家庭、人際或身體經驗套進故事。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本頁可連結 UNIT 01 的 STEP 01 至 STEP 05。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教師先說明：青春期的變化可能出現在睡眠、情緒、外表、同儕互動或身體感受，每個人的時間與速度不同。討論生理期時，以校護或可信衛教資料為準，避免用傳聞回答。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可以問：怎麼做能讓身體不舒服的同學感到被尊重？答案可包含低調陪伴、提供資訊、找校護或可信任的大人。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本頁可連結 UNIT 02 的 STEP 06 至 STEP 10。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教師示範：用「我感到……我希望……」說明自己，不用責怪對方的人格；對方說不時，先停止並尊重，不追問理由。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衝突演練只用虛構情境。若情況涉及持續傷害、權力不對等或安全風險，告訴學生不需要自行協商，應找大人介入。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本頁可連結 UNIT 03 的 STEP 11 至 STEP 15。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提醒學生：標題很吸睛、轉發很多或朋友說是真的，都不能取代來源與證據。留言前可用三問：是真的嗎、必要嗎、尊重嗎。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數位平衡不只看使用時數，也觀察睡眠、專注、情緒與責任是否受到影響。目標要具體、可調整，不用追求一次做到完美。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本頁可連結 UNIT 04 的 STEP 16 至 STEP 20。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把「我不行」改寫成「我現在遇到什麼困難，我可以先做哪一步」。讓學生區分可控制與暫時不可控制的部分，再設定一個短期行動、備案和支持者。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持續影響睡眠、飲食、學習或安全感的壓力，需要和可信任的大人一起尋求適當支持。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本頁把四個單元轉成可帶走的學習工具。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請教師先展示工具名稱，再讓學生選擇最適合目前情境的一張：身心照顧卡、人際回應卡、網路檢核表或壓力導航圖。重點不是完成漂亮，而是寫出自己看得懂、真的可能使用的內容。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可問：如果明天遇到類似情境，你會先看哪一格？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本頁是教師分享的收束，也是學生工具的使用入口。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請展示四種產出：身心照顧卡、人際情境回應卡、網路判讀與安全檢核表、壓力導航圖。說明工具不必公開給全班看，學生可以保留在自己的學習資料中。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最後請學生完成一個小步驟：寫下明天想試的方法、開始時間，以及遇到困難時要找的支持者。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53a3942b92491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3eb245cebc4d51" /><Relationship Type="http://schemas.openxmlformats.org/officeDocument/2006/relationships/slideLayout" Target="/ppt/slideLayouts/slideLayout1.xml" Id="R76038f32ab7d482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038f32ab7d482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f37dfdb4e4a34" /><Relationship Type="http://schemas.openxmlformats.org/officeDocument/2006/relationships/notesSlide" Target="/ppt/notesSlides/notesSlide1.xml" Id="R4e3f7dc794ae47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a71d7d6864750" /><Relationship Type="http://schemas.openxmlformats.org/officeDocument/2006/relationships/notesSlide" Target="/ppt/notesSlides/notesSlide2.xml" Id="Rbb5f5aeca50646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da8b905534d1d" /><Relationship Type="http://schemas.openxmlformats.org/officeDocument/2006/relationships/notesSlide" Target="/ppt/notesSlides/notesSlide3.xml" Id="R73595a2eaf4344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2c9b766ac4327" /><Relationship Type="http://schemas.openxmlformats.org/officeDocument/2006/relationships/notesSlide" Target="/ppt/notesSlides/notesSlide4.xml" Id="Rc5916aa5dd2449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7bedf991c4161" /><Relationship Type="http://schemas.openxmlformats.org/officeDocument/2006/relationships/notesSlide" Target="/ppt/notesSlides/notesSlide5.xml" Id="Rb6c191baaf7a49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8b74e5e1b44d8" /><Relationship Type="http://schemas.openxmlformats.org/officeDocument/2006/relationships/notesSlide" Target="/ppt/notesSlides/notesSlide6.xml" Id="R1d55fe26b8e840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2ee5558e54d5d" /><Relationship Type="http://schemas.openxmlformats.org/officeDocument/2006/relationships/notesSlide" Target="/ppt/notesSlides/notesSlide7.xml" Id="R962ab6f4b2904d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8463de9a440f8" /><Relationship Type="http://schemas.openxmlformats.org/officeDocument/2006/relationships/notesSlide" Target="/ppt/notesSlides/notesSlide8.xml" Id="R81b8ad1586e942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b6cb6c5c44ea9" /><Relationship Type="http://schemas.openxmlformats.org/officeDocument/2006/relationships/notesSlide" Target="/ppt/notesSlides/notesSlide9.xml" Id="R592e7d70e6ec42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ca09f6a5d4027" /><Relationship Type="http://schemas.openxmlformats.org/officeDocument/2006/relationships/notesSlide" Target="/ppt/notesSlides/notesSlide10.xml" Id="R4e367207bcdb41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f3d8b3d034762" /><Relationship Type="http://schemas.openxmlformats.org/officeDocument/2006/relationships/notesSlide" Target="/ppt/notesSlides/notesSlide11.xml" Id="R7cd5d72d0061426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e721891ed457a" /><Relationship Type="http://schemas.openxmlformats.org/officeDocument/2006/relationships/notesSlide" Target="/ppt/notesSlides/notesSlide12.xml" Id="R3ea2736e13b446f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12dbb705b4352" /><Relationship Type="http://schemas.openxmlformats.org/officeDocument/2006/relationships/notesSlide" Target="/ppt/notesSlides/notesSlide13.xml" Id="R43cc8e89387749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2ba5a25ee4fff" /><Relationship Type="http://schemas.openxmlformats.org/officeDocument/2006/relationships/notesSlide" Target="/ppt/notesSlides/notesSlide14.xml" Id="R7bbc68c52a824f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4e21c2a7b496d" /><Relationship Type="http://schemas.openxmlformats.org/officeDocument/2006/relationships/notesSlide" Target="/ppt/notesSlides/notesSlide15.xml" Id="R7b7989ddb400479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846a01d124d04" /><Relationship Type="http://schemas.openxmlformats.org/officeDocument/2006/relationships/notesSlide" Target="/ppt/notesSlides/notesSlide16.xml" Id="Rb9ae9fab54154cd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ebc4959484d00" /><Relationship Type="http://schemas.openxmlformats.org/officeDocument/2006/relationships/notesSlide" Target="/ppt/notesSlides/notesSlide17.xml" Id="Rdf0d9e4fbc854b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290C16C-2FC4-486D-84D2-A225CF11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2700">
            <a:solidFill>
              <a:srgbClr val="FF8A65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0D60D0-6555-45D0-9732-03A3A0F7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6751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高年級 SEL</a:t>
            </a:r>
            <a:endParaRPr sz="4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4F72378-44F6-456B-882A-83623078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658368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D7F36B"/>
                </a:solidFill>
                <a:latin typeface="Microsoft JhengHei"/>
                <a:ea typeface="Microsoft JhengHei"/>
                <a:cs typeface="Microsoft JhengHei"/>
              </a:rPr>
              <a:t>讓情緒有名字，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D7F36B"/>
                </a:solidFill>
                <a:latin typeface="Microsoft JhengHei"/>
                <a:ea typeface="Microsoft JhengHei"/>
                <a:cs typeface="Microsoft JhengHei"/>
              </a:rPr>
              <a:t>讓選擇有方法。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6F0B3CD-3085-446C-8CA3-C506DECE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6400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E8E8E0"/>
                </a:solidFill>
                <a:latin typeface="Microsoft JhengHei"/>
                <a:ea typeface="Microsoft JhengHei"/>
                <a:cs typeface="Microsoft JhengHei"/>
              </a:rPr>
              <a:t>青春期 × 人際 × 網路 × 升學壓力</a:t>
            </a:r>
            <a:endParaRPr sz="18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9E23106-ABAE-4D21-8091-C017D6D7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188720"/>
            <a:ext cx="2468880" cy="246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25400">
            <a:solidFill>
              <a:srgbClr val="24324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6BBA827-D81F-4F8A-92CF-C3C93FF0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828800"/>
            <a:ext cx="1645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LESSONS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745042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174B0FC-1E50-4EC1-8676-C3BA399C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A2C7C4-0946-4B67-9F67-FBF088B9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01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30BCE1D-8A23-4FAB-B205-3F7D22A7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46750C8-9D2E-439A-8CB7-35F39221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為什麼是現在？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7FD1F1-DF4E-4586-AB0A-55CC55F1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高年級學生同時面對身體變化、同儕目光、網路訊息與升學期待。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CB6F64E-1ABA-49A2-B5D5-7EA2E2F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AD3C5C-46D5-422B-B0A1-FDC774CF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CCCCB7-942D-49B1-9DF1-040109D1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5B68F2B-6A57-404C-BAEB-28009BEC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AAD2C86-6729-444A-AF7B-85A31B97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4235360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BB2CFC-F6CF-4FFE-BD2C-76C170D6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7194E2-4BA4-4BB2-8467-D34C3269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02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BF562DF-1867-4DA1-851D-F4F734F3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E0FE037-68CC-4BD5-B8A4-278BE3EE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SEL 的四個能力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6304D0F-6163-45BB-B50B-67FD55C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辨識情緒與身體訊號｜調節反應｜建立關係｜做負責任的決定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5988A2E-A5B0-4DBC-91EA-D5CEB72F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6D8D3C-1BF3-41E2-9EF2-7DEE8FAB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16CB77-3237-4EC9-B6AC-9B2DF451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45CC564-2D40-441D-960A-03A5A3BD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E20624A-3CE5-43DF-9A0C-09D21A6B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3181352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7BE428-3AC4-47D5-882B-19428FB1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CB2E1AF-DF93-4494-8754-518C57CA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03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C9FC7CC-789F-419C-BE71-301989C5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7E81340-2F9C-473A-A035-9531BEF6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UNIT 01｜我正在變化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5D36429-FDCE-44C1-9FCE-39B17668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青春期不是故障；生理期不是笑話；求助不是丟臉。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8D2F09F-7299-4A42-B4B1-6C5A4FFF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195ED8E-9D11-47CE-8263-5944D771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DE44789-40D1-4B7F-9A84-788AC432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412453A-740F-4094-AACF-6EDACF6B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79D3649-9226-460B-9F08-89580EE5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3659674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AF2B02-4C10-4498-8FF2-284C9369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19023C-0045-408C-A7A1-A48BC457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04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D19489-863B-4E0E-A0D6-039A22A3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53C6D1B-0663-487C-978C-63A27784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UNIT 02｜我與他人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3E58DAD-1BEB-492A-B8C7-0CE899FF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朋友可以不同，界線需要被尊重，衝突可以被處理。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A42A6BF-7D81-47D5-95D4-33DABEA3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52F62FF-498D-4CB2-A37F-3DEDBE8A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3901B52-822D-421F-8AD7-742BC1D0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B1A1D49-9824-4B43-899B-B16C8DCA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C2F5AAF-B9D5-4893-B86F-8A9700C5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0315052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597C928-B1EE-4292-859C-29E7BF06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5673069-B4D8-4F1C-8C5A-46482D5F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05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4F293FE-7765-4AF0-B08D-7CCA33F3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8F33C62-9786-414C-8E49-23DCE734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UNIT 03｜我在網路上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EC85BFC-BD81-4EC9-AA7F-0EBA1D76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先停、再查、再決定；留言與影像都要負責。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3156970-B1C7-4386-BE46-3703C3B3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4607F7E-C96F-4607-838D-4F2F9E1B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0CD2B43-63BD-44FD-B7E3-D5DD982C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24053EF-DFE7-4AC4-AE3C-9C399717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9BE79AD-7AD0-4D76-B17F-84FDAEBB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4983485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8C220F-D23F-4948-B1E0-01C2318F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40136B4-6707-4429-8453-3E0F16C9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06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0DA66B4-78EE-48F5-A3EB-67B7375D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506F801-E82C-45F0-AEAC-6E4A4DE3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UNIT 04｜我走向下一站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A3B09D8-CA4F-4DBE-8798-BC47A296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壓力是一個訊號，不是對自我價值的判決。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FB6AF60-6AB1-4816-BFF2-6957AA38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B4FD2BC-7084-40A3-ACE6-CFBD37BD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155B503-D89F-4BB0-BF05-CBF8D6B3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CE8327A-794B-4C8F-B33F-DBA3E7A5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3B3D95A-79D7-4F68-B732-45F6114F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3199229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1D23803-EBD4-4ADB-9EB6-36B5C519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F091A2F-4263-4B83-901F-6018E08B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07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AFAF92E-055C-4D52-B0DE-45E99481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2211FAB-E86A-47A6-A9AA-689563D6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一節課的 40 分鐘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EE4223-55C5-469D-B87D-4987B85E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5 暖身 → 8 示範 → 12 任務 → 8 回饋 → 5 連結 → 2 收束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2FFB939-7C62-4421-A7DB-FF4E5544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DCF1B0C-333C-4007-B548-5D4E5295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BA2AA7A-8CC0-4C33-A2C9-A7069692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請教師先走過一次完整節奏，再依班級狀況調整。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2246FC1-1FA0-422A-9D57-A05F5BC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77DDF14-6C3E-4451-A564-12A63A83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7933837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3E0C942-38B5-4954-A09E-B6A76E32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6CCA2B-5BA5-4D0F-BA6B-8E688208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08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2DFC28F-7AED-4744-9386-955BC456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7ED4BCC-79E8-4692-BBD5-49A2F498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教師的三個動作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937BB06-C347-4C1E-8F19-A8C22CAB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正常化變化｜保留選擇｜建立求助入口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1888CBE-811C-437E-8746-0EA43250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338F03-6A88-4A8E-9717-663319CC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8373CE5-0A32-4458-A167-3D25C34C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E9C8560-5AB1-4459-A06A-478558FA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1812D41-6A7E-4510-B481-E1FACE58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7375816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5862E9-DE9B-4A41-B8BD-D5664DD4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7DAA99-ADC0-4DD4-8807-1C40F2DE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09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7EDE69D-3510-478E-B0A3-2B27FCF0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3961523-2F5B-477F-A3EB-AD2C8293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不要只問：你怎麼了？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9767D54-498F-4E28-BA00-9F2BC078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改問：你注意到什麼？你需要什麼？下一步要找誰？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DEA62A3-2198-4561-99B6-9B93A712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0865FC1-5698-499D-8BC8-DEB59EDA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31B1E1D-F3DC-4D85-8932-083E32D2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1B2D7F5-0F15-429B-B506-8A1FF633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9D0E957-1C10-4967-B0C7-950C961D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20696358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B7084F-E837-4939-B4C7-1159DE93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969C183-A4A2-4F92-9739-91CEEB73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10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32A31BD-F92D-4909-8F81-F72E1564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896967-38A6-401D-BA52-131110D5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情境故事的用法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EB744B7-9546-4040-9D6B-65194B4A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故事不拿來猜誰是誰；故事拿來練習看見感受與選擇。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4CEA0BF-0602-4325-A71B-1856EC1B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DFB7302-4363-4CB5-B11F-D80333D1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DA2C50D-B675-4AE4-9E4D-97B61885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404AA27-429B-4196-AC04-3D3234DF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01573FA-FC27-4288-A072-3E54410D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5417744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A400096-77BE-4B81-960D-6DC7E130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E656BB-20B4-4767-8188-99E77232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11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FD3B4DA-81DF-4385-BD87-04B282AE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BF86644-C6E0-41F9-ADB1-16DE3377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青春期與生理期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7A347A-F074-4277-B8C3-C0F5E61B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用可信資料談身體，用尊重語言談感受，用安全流程談求助。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1D2F7B9-8DBC-4607-A952-18B3F6DD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AB09A66-4BF8-428F-846C-DF136C01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ECB40F-1FE1-40A3-83FB-C1AF99B3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5DB97E4-BE9E-4EC7-A652-76782915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2D6CEF1-D58D-418A-B88B-0BF5E35B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9441906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8E6E6F6-C4BD-41C1-B99B-332E3237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2193B7-6191-408C-961A-75FE3E2A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12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72A1D0B-7EA6-4942-8CC0-96E16AA2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9ABA49-D3F0-45ED-8ED6-A9AED090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交友與人際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0C1E4F3-DF3C-4179-9FAA-77F2ED61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我訊息、界線、傾聽、修復，都是可以練習的技能。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B0C7999-4723-46C6-8B72-7C83FE6F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354D25E-BBF2-4A3D-A862-BA09109F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562780F-36A9-4135-8A72-FDF1A2E8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2F56046-146B-4CFD-884C-C64D668B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1479DDA-E07C-4E29-91E2-CFF712B9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2268996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F9CF2F4-7E19-49DC-8D66-077922FC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06047CE-8C03-4B89-AFDC-D8384DC3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13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BA585CD-13D5-4B44-819A-C92EF1E8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BF16FD-9E6F-47DA-9E31-3FFA03E0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網路與資訊素養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441B61-3FCE-4EE9-92D0-A1FBD4EF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來源、證據、日期、目的；個資、影像、留言、平衡。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F974189-94B9-4926-B453-55B08AA3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4B2FB5D-D787-477F-8AF9-22EB87EA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3B82C54-21E4-4728-9F0D-5A993EBD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5BB26D-FD2F-4343-8F00-337BB5E7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EC1BDC-6228-47F4-A019-CE233852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4857668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5C7DA56-2FD6-4DC6-8A4C-22C08C7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1D5F6FC-8467-49E6-AE28-2C2FBFF2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14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1BF2A6B-8188-47F9-9604-BCF5DF1B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2440016-480B-4E86-8D87-0AD07670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升學壓力適應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EB3958-93F8-4815-B5F5-17FECDFD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把「我不行」換成「我下一步可以做什麼」。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3FF2B67-59DA-41C6-A9D6-1E47A492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A7C1046-F305-465E-9363-5654C203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21FC243-7014-4B13-BDED-30EA3D5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F04292F-0500-4B9B-BBCF-8DD7DB62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1CA5E0D-04C3-4983-9027-6E0388D9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3243980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9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2D2BFE7-951D-4875-830D-8A35B1F2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2700">
            <a:solidFill>
              <a:srgbClr val="D7F36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21F826-6783-4EE6-9113-D5DCFE59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STEP 15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976B529-1537-4CF1-9FB7-121DB864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0358FFC-2DEA-4325-B6F8-524048A1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把課堂帶回生活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97CB4C6-2D0A-4884-B041-CF02F893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5A6475"/>
                </a:solidFill>
                <a:latin typeface="Microsoft JhengHei"/>
                <a:ea typeface="Microsoft JhengHei"/>
                <a:cs typeface="Microsoft JhengHei"/>
              </a:rPr>
              <a:t>每節課完成一個小工具：照顧卡、回應卡、檢核表或導航圖。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D51DE90-AE27-4B02-A0CA-3BC19FAC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6949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991B848-911B-4746-9D99-F3D4332D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07792"/>
            <a:ext cx="65471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本頁任務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AB749F1-3162-4442-B978-1D37A3C7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73552"/>
            <a:ext cx="6547104" cy="9692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請學生先說出觀察，再說出感受，最後提出下一步。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77C19-9915-46C9-AF2C-88B1E60F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9050">
            <a:solidFill>
              <a:srgbClr val="2432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D07E34B-ACC7-4730-94A0-5C758C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971800"/>
            <a:ext cx="1188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2312671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43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0CC286-ED6D-4063-A993-F8B71C09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2700">
            <a:solidFill>
              <a:srgbClr val="FF8A65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E9CFBC-C7A7-4E2F-99D6-F0D18E42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D7F36B"/>
                </a:solidFill>
                <a:latin typeface="Microsoft JhengHei"/>
                <a:ea typeface="Microsoft JhengHei"/>
                <a:cs typeface="Microsoft JhengHei"/>
              </a:rPr>
              <a:t>STEP 17  /  教師分享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7DE0E4F-8AF0-4E4E-860E-3ADB88EB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73952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Microsoft JhengHei"/>
                <a:ea typeface="Microsoft JhengHei"/>
                <a:cs typeface="Microsoft JhengHei"/>
              </a:rPr>
              <a:t>仙姑凱西設計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AF58B8D-D26D-42F9-8FBB-F60CE378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68680"/>
            <a:ext cx="6766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課程結束，行動開始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8FD5BA0-6C0A-46D9-8801-0A34E935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91640"/>
            <a:ext cx="6217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E8E8E0"/>
                </a:solidFill>
                <a:latin typeface="Microsoft JhengHei"/>
                <a:ea typeface="Microsoft JhengHei"/>
                <a:cs typeface="Microsoft JhengHei"/>
              </a:rPr>
              <a:t>讓學生把一張卡帶回生活，把一個小步驟帶回明天。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E74A056-F91C-453F-8F67-7C9D3EA5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2834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36B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9032AA9-1CB0-4D3E-82DD-0D1045CE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542032"/>
            <a:ext cx="24323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我看見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02608B8-6CD6-4530-9BFA-5E2E01C8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907792"/>
            <a:ext cx="2432304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我的情緒與身體訊號。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845EC41-522A-49CC-B3CE-7315EC47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377440"/>
            <a:ext cx="2834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65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84436D2-D120-4D3F-A9E8-5CCA7951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542032"/>
            <a:ext cx="24323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我選擇</a:t>
            </a:r>
            <a:endParaRPr sz="1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3043CA-306D-4CA4-8075-A4EF9EE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907792"/>
            <a:ext cx="2432304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一個安全、可執行的方法。</a:t>
            </a:r>
            <a:endParaRPr sz="16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4B10603-4649-4234-B820-73399B16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377440"/>
            <a:ext cx="2834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FF"/>
          </a:solidFill>
          <a:ln xmlns:a="http://schemas.openxmlformats.org/drawingml/2006/main" w="17780">
            <a:solidFill>
              <a:srgbClr val="24324A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24324A">
                <a:alpha val="28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7030F68-D866-423F-828C-6F29E476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542032"/>
            <a:ext cx="24323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8A65"/>
                </a:solidFill>
                <a:latin typeface="Microsoft JhengHei"/>
                <a:ea typeface="Microsoft JhengHei"/>
                <a:cs typeface="Microsoft JhengHei"/>
              </a:rPr>
              <a:t>我連結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CAE4B5A-579B-4EA4-B8B8-9D4227E7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07792"/>
            <a:ext cx="2432304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24324A"/>
                </a:solidFill>
                <a:latin typeface="Microsoft JhengHei"/>
                <a:ea typeface="Microsoft JhengHei"/>
                <a:cs typeface="Microsoft JhengHei"/>
              </a:rPr>
              <a:t>一位可以一起處理的大人。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10098402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2026-09-05T08:20:48.8980000Z</dcterms:created>
  <dcterms:modified xsi:type="dcterms:W3CDTF">2026-09-05T08:20:48.8980000Z</dcterms:modified>
</coreProperties>
</file>