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6F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國小高年級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教學手冊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含情境小故事｜20 節課｜每節 40 分鐘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1005840"/>
            <a:ext cx="3108960" cy="3108960"/>
          </a:xfrm>
          <a:prstGeom prst="ellipse">
            <a:avLst/>
          </a:prstGeom>
          <a:solidFill>
            <a:srgbClr val="FF6D4D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1737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感受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→理解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→行動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509760" y="6446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D4D"/>
          </a:solidFill>
          <a:ln w="12700">
            <a:solidFill>
              <a:srgbClr val="FF6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6F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00  /  課程地圖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節課，四條成長路徑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E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每一單元 5 節，最後以一張可使用的工具卡收束。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2331720" cy="196596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9077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3273552"/>
            <a:ext cx="1929384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我正在變化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身心照顧卡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20440" y="2743200"/>
            <a:ext cx="2331720" cy="1965960"/>
          </a:xfrm>
          <a:prstGeom prst="rect">
            <a:avLst/>
          </a:prstGeom>
          <a:solidFill>
            <a:srgbClr val="FF6D4D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21608" y="29077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21608" y="3273552"/>
            <a:ext cx="1929384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我與他人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人際回應卡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2743200"/>
            <a:ext cx="2331720" cy="1965960"/>
          </a:xfrm>
          <a:prstGeom prst="rect">
            <a:avLst/>
          </a:prstGeom>
          <a:solidFill>
            <a:srgbClr val="DFF2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6248" y="29077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6248" y="3273552"/>
            <a:ext cx="1929384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我在網路上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資訊檢核表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89720" y="2743200"/>
            <a:ext cx="2331720" cy="196596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90888" y="290779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90888" y="3273552"/>
            <a:ext cx="1929384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我走向下一站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壓力導航圖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情緒不是故障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辨識青春期身心變化，分辨事實與迷思。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安準備設計班級海報，卻發現最喜歡的橘色彩筆不見了。他先覺得緊張，接著懷疑是同學拿走，臉熱熱的、手也握得緊緊的。後來彩筆在書包夾層找到，他才發現同一件事裡，情緒會變化，先觀察再行動能幫助自己做出更好的選擇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本節學習焦點｜辨識青春期身心變化，分辨事實與迷思。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情緒不是故障｜教學節奏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情緒天氣選擇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選天氣並說明線索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示範情緒詞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把煩躁拆成事件、感受、需要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情緒鏈配對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用小安彩筆故事排出四步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說明觀察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指出哪個線索幫助角色停下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我的辨識詞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選一個下週可使用的情緒詞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Exit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我正在感受＿＿，可能需要＿＿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本節帶走：辨識青春期身心變化，分辨事實與迷思。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生理期與身體照顧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練習生理期照顧、尊重與求助。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晴在學校突然感到身體不舒服，也擔心同學注意到自己的生理期。她先到安靜的地方整理用品，再用「我需要一點協助」告訴老師與校護。她知道每個人的身體變化速度不同，照顧自己不是丟臉，而是負責任的行動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本節學習焦點｜練習生理期照顧、尊重與求助。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生理期與身體照顧｜教學節奏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尊重回應投票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判斷陪伴、取笑、拍照的差異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示範求助句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我需要協助，請陪我找＿＿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校園求助路線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排列整理用品、找老師、找校護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句型演練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練習說需要，不追問隱私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求助入口卡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寫下校內一位可信任大人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帶走卡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照顧身體不是丟臉的事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本節帶走：練習生理期照顧、尊重與求助。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情緒來了，我有方法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辨識身體訊號，練習兩種調節策略。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小傑在小組活動中一直被改意見，越來越生氣，差一點把作品揉掉。他注意到自己的肩膀變緊、呼吸變快，先離開刺激做幾次呼吸，再回來說明自己的想法。情緒沒有消失，但他多了一個重新選擇的機會。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本節學習焦點｜辨識身體訊號，練習兩種調節策略。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情緒來了，我有方法｜教學節奏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身體訊號快選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選心跳、肩膀、呼吸等線索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示範降溫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 4-6 呼吸與離開刺激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情緒工具站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輪流體驗兩種調節工具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比較後果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比較爆發、暫停、求助的結果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我的安全方法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選一個適合自己的方法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Exit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我的訊號是＿＿，我先＿＿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本節帶走：辨識身體訊號，練習兩種調節策略。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我可以求助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分辨可自理、需協助與立即求助的情況。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小恩原本以為把困擾告訴大人就是告密，所以一直忍著不說。當他發現自己已經連續好幾天睡不好，便用「發生什麼事、我感覺如何、我需要什麼」三句話找導師談。求助不是能力不足，而是保護自己的方法。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本節學習焦點｜分辨可自理、需協助與立即求助的情況。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我可以求助｜教學節奏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求助入口投票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分辨告密、求助與緊急求助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示範三句話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發生什麼、我感覺、我需要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綠黃紅分級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將四個虛構情境分級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說出理由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說明何時必須找大人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支持者地圖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畫出兩條求助路線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收束提醒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危險或受傷時立即求助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本節帶走：分辨可自理、需協助與立即求助的情況。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05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我的身心照顧卡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整合警訊、調節工具與支持者。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位同學把課堂學到的警訊、調節方法與支持者整理成身心照顧卡。小安選擇深呼吸，小晴寫下校護的位置，小傑記錄自己需要安靜空間，小恩留下可以求助的大人。每個人的卡片不同，但都能在需要時提醒自己下一步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本節學習焦點｜整合警訊、調節工具與支持者。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05  /  UNIT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我的身心照顧卡｜教學節奏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四課圖示回顧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配對訊號、工具、支持者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示範照顧卡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示範把策略寫成可行提醒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照顧工具站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小組整理休息、衛生、求助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安全回饋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只談策略，不評論個人經驗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完成身心卡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選一項明天可使用的方法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個人保留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卡片可保留，不必展示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本節帶走：整合警訊、調節工具與支持者。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06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朋友不必完全一樣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尊重差異，處理友誼中的失望。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阿澤和朋友喜歡不同的遊戲，朋友一直要他照自己的方式玩。阿澤先說出「我喜歡另一種玩法」，也聽朋友說明原因，最後約定輪流選擇。朋友不必完全一樣，仍然可以用尊重維持關係。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本節學習焦點｜尊重差異，處理友誼中的失望。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06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朋友不必完全一樣｜教學節奏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喜好差異投票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選相同、不同或都可以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示範傾聽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先說喜好，再重述對方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輪流選擇任務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設計雙方都能玩的規則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檢查公平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找出有沒有勉強或嘲笑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友誼句型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練習我喜歡＿＿，你呢？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帶走一句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不同不等於不能相處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本節帶走：尊重差異，處理友誼中的失望。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07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界線與尊重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辨識身體、物品、時間與訊息界線。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小妍不想把同學的照片放進群組，卻擔心拒絕後會被說掃興。她練習說：「我不想分享這張照片，請不要傳。」同學停下來後，她也學會在別人說不時尊重對方，不追問、不起鬨。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本節學習焦點｜辨識身體、物品、時間與訊息界線。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07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界線與尊重｜教學節奏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界線快問快答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判斷照片、物品、時間界線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示範清楚拒絕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我不想＿＿，請不要＿＿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拒絕情境演練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用虛構照片要求練習回應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觀察回饋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檢查語句是否清楚且安全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界線卡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寫一個可爭取時間的句子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安全收束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持續被要求就找可信任大人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本節帶走：辨識身體、物品、時間與訊息界線。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08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衝突可以被處理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區分誤會、衝突與霸凌，練習修復。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兩位同學因為分組工作分配不均而爭吵，聲音越來越大。老師沒有急著判斷誰對誰錯，而是請他們先說事實、再說感受、輪流聽對方，最後一起找補救方式。若衝突讓人害怕或受傷，就要直接找可信任的大人。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本節學習焦點｜區分誤會、衝突與霸凌，練習修復。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08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衝突可以被處理｜教學節奏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衝突溫度選擇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找出需要暫停的身體訊號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示範四步修復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事實、感受、聽對方、下一步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雙版本演練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比較衝動回應和尊重回應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觀察員回饋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指出哪一步降低了衝突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修復句型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練習我想重新說一次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求助界線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害怕或受傷時直接找大人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本節帶走：區分誤會、衝突與霸凌，練習修復。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09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團體中的我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觀察群體壓力，練習共同決策。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小組討論時，小凱一直安靜坐在旁邊，大家差點忘記問他的想法。組員重新分配主持、記錄、提問與關照成員的角色，讓每個人都有發言機會。小凱提出的點子最後幫助小組完成了方案。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本節學習焦點｜觀察群體壓力，練習共同決策。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09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團體中的我｜教學節奏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誰被看見觀察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看虛構小組誰發言、誰被忽略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示範角色輪替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主持、記錄、提問、關照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有限資源任務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小組設計班級活動並輪流角色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流程回饋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回報哪個安排讓參與變公平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我的參與方式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選發言、提問或傾聽策略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Exit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下次我會邀請＿＿參與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本節帶走：觀察群體壓力，練習共同決策。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10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我的人際情境回應卡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整合人際回應策略。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學把表達、拒絕與求助句型整理成一張人際情境回應卡。遇到被催促時，可以說明感受；遇到不舒服的要求，可以清楚拒絕；遇到自己無法處理的情況，可以找大人。這張卡不是標準答案，而是幫助自己先停一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本節學習焦點｜整合人際回應策略。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10  /  UNIT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我的人際情境回應卡｜教學節奏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人際情境抽卡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抽表達、拒絕或求助情境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示範回應卡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示範停一下再選句型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三站演練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表達站、界線站、求助站輪轉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同儕回饋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檢查清楚、尊重、安全三條件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帶回句型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選一個最需要的句型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完成回應卡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寫下我的下一句話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本節帶走：整合人際回應策略。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11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看到的，不一定是真的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使用四問查證法初步判讀資訊。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小組看到一則「明天一定停課」的聳動訊息，大家都想立刻轉傳。小晴先查看發布者與日期，小安再找另一個可信來源比對，最後發現原文已經過期。四個問題讓他們知道，看到的訊息不一定是真的。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本節學習焦點｜使用四問查證法初步判讀資訊。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11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看到的，不一定是真的｜教學節奏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標題直覺投票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先猜可信度，不急著轉傳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示範四問查證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來源、證據、日期、目的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資訊偵探任務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比對兩則教師準備素材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說明判斷線索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指出支持或懷疑的證據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查證口訣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把四問改成自己的短句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Exit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看到聳動消息先＿＿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本節帶走：使用四問查證法初步判讀資訊。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12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個資與影像界線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保護個資與影像，知道安全處理流程。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小偉收到陌生帳號訊息，對方說只要傳照片就能得到一個秘密。他沒有回覆，也沒有把訊息轉給朋友取笑，而是先截圖、封鎖，再告訴家人與老師。保護個資與影像，是尊重自己也尊重別人的一部分。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本節學習焦點｜保護個資與影像，知道安全處理流程。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12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個資與影像界線｜教學節奏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個資分類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區分可公開、需確認、不可提供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示範安全流程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不回傳、截圖、封鎖、告訴大人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陌生訊息情境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判斷不同回覆的安全性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流程排序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排出正確處理順序並說理由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個資檢核表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勾選自己要保護的資訊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安全收束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影像分享前要有同意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本節帶走：保護個資與影像，知道安全處理流程。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13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留言前先想三秒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降低文字誤讀，練習數位同理。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一段看似好笑的留言讓同學沉默了。留言的人原本說「我只是開玩笑」，後來看見對方的感受，重新寫成清楚而尊重的道歉。大家練習留言前先想三秒：是真的嗎、必要嗎、尊重嗎。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本節學習焦點｜降低文字誤讀，練習數位同理。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13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留言前先想三秒｜教學節奏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一句話感受投票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看文字判斷可能造成的感受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示範留言三問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真的嗎、必要嗎、尊重嗎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留言改寫任務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把攻擊句改成清楚語句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前後比較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說明哪個字詞降低傷害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數位同理句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選一個留言前提醒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Exit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送出前我會先問＿＿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本節帶走：降低文字誤讀，練習數位同理。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14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我的數位平衡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觀察科技使用後的身心狀態。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小組發現自己常常因通知聲分心，晚上也會捨不得離開平板。大家把睡眠、專注、情緒與責任放進檢核表，設計關閉通知、固定休息與替代活動的方案。方案可以調整，不需要一次做到完美。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本節學習焦點｜觀察科技使用後的身心狀態。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14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我的數位平衡｜教學節奏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使用狀態自評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觀察睡眠、專注、眼睛、情緒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示範平衡方案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關通知、休息、替代活動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一週方案設計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安排使用、休息與備案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可行性檢查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找出太難或不安全的安排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我的提醒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選一個平板休息訊號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帶走方案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明天在＿＿時間休息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本節帶走：觀察科技使用後的身心狀態。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15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我的網路與資訊素養檢核站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整合四種網路安全策略。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四組輪流處理假訊息、陌生連結、轉傳照片與熬夜情境。每組不只選答案，還要說明自己根據哪個線索做決定。最後大家把查證、個資、留言與平衡四種策略整理成一張網路檢核表。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本節學習焦點｜整合四種網路安全策略。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15  /  UNIT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我的網路與資訊素養檢核站｜教學節奏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四站檢核快選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複習查證、個資、留言、平衡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示範判斷理由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用線索而不是只說對錯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網路情境闖關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處理假訊息、連結、照片、熬夜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闖關回顧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比較安全與方便的差異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檢核表改寫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寫成自己看得懂的短句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Exit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我最需要加強＿＿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本節帶走：整合四種網路安全策略。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16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壓力在告訴我什麼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辨識壓力來源、身心訊號與控制圈。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小安看到考試倒數就胃痛，腦中一直出現「我一定來不及」。他先記下壓力訊號，再把事情分成自己能控制與暫時不能控制的部分。當他完成今天能做的一小步，焦慮沒有立刻消失，但變得比較可以面對。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本節學習焦點｜辨識壓力來源、身心訊號與控制圈。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16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壓力在告訴我什麼｜教學節奏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壓力訊號投票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選身體、睡眠或想法線索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示範控制圈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分辨能控制與暫時不能控制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訊號配對任務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將虛構壓力情境配對方法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策略說明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說明為何先做可控制的事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我的控制圈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寫一件今天能做的事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收束句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壓力是訊號，不是判決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本節帶走：辨識壓力來源、身心訊號與控制圈。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17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把大壓力拆成小步驟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把焦慮轉成可執行的目標。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小芸把「我要變厲害」寫在紙上，卻不知道從哪裡開始。她把目標拆成結果、過程與今天的第一步，再預先想好太累或被打斷時的備案。大壓力被拆小後，她看見自己可以先做一件事。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本節學習焦點｜把焦慮轉成可執行的目標。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17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把大壓力拆成小步驟｜教學節奏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大目標改寫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把我要變厲害拆成行動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示範小步驟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結果、過程、今天第一步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七日排程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安排一個小目標與備案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同儕檢查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看是否具體、可開始、可調整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明日第一步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 15 分鐘行動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帶走卡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如果被打斷，我可以＿＿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本節帶走：把焦慮轉成可執行的目標。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18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比較、失敗與自我價值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辨識比較思維，建立自我支持語句。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小芸考不好時脫口說「我就是不行」，接著把自己和同學比較。老師請她改問：「這次結果告訴我哪個策略需要調整？」她仍然感到失望，但開始把成績看成回饋，而不是對自己價值的判決。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本節學習焦點｜辨識比較思維，建立自我支持語句。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18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比較、失敗與自我價值｜教學節奏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內在台詞辨識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找出我不行、一定失敗等絕對句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示範換框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把結果看成回饋，不是人格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失敗案例會議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分析策略哪裡可調整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回饋式發表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說出證據與下一次做法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自我支持句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完成我現在還不會，但＿＿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Exit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一次結果不等於我的＿＿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本節帶走：辨識比較思維，建立自我支持語句。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19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我的壓力導航圖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整合個人支持系統。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學生把自己的警訊、調節工具、支持者與求助入口畫成壓力導航圖。有人把休息放在第一站，有人把找老師放在轉彎處，也有人寫下遇到危險時要立即求助。導航圖讓抽象的壓力變成可以辨認的路線。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本節學習焦點｜整合個人支持系統。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19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我的壓力導航圖｜教學節奏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四單元回顧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用圖示回想四條成長路徑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示範導航圖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警訊、工具、支持者、入口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壓力導航製作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畫出自己的虛構或一般情境路線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路線測試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用新情境檢查能否找到下一步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補上支持者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寫校內、家中或社區資源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安全收束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危險情況的緊急入口是＿＿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本節帶走：整合個人支持系統。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20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我的下一站行動方案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SEL 能力轉成生活行動。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64008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587752"/>
            <a:ext cx="5998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故事｜情境小故事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953512"/>
            <a:ext cx="59984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最後一堂課，班上回顧 20 節課中學到的辨識、調節、關係、資訊與決策方法。每位學生選一個下一站方向，寫下三個步驟、一個備案與一位支持者，再把行動卡帶回生活。課程的終點不是全部解決，而是知道遇到變化時可以重新選擇。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2423160"/>
            <a:ext cx="3886200" cy="265176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62088" y="2587752"/>
            <a:ext cx="3483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引導問題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2088" y="2953512"/>
            <a:ext cx="3483864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你注意到角色的什麼線索？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如果是你，下一步會怎麼做？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這個選擇可能帶來什麼結果？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本節學習焦點｜把 SEL 能力轉成生活行動。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20  /  UNIT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我的下一站行動方案｜教學節奏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一節課 40 分鐘：從情境進入，走到可帶走的行動。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下一站投票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在學習、休息、人際、健康選方向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示範行動卡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目標、三步驟、備案、支持者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249631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分鐘  /  七日行動方案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30768" y="286207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完成自己的可調整計畫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分鐘  /  同儕檢核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只檢查具體、安全、可調整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3840480"/>
            <a:ext cx="3246120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分鐘  /  明日最小步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600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寫下第一次使用時間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840480"/>
            <a:ext cx="3246120" cy="114300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4005072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分鐘  /  課程收束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30768" y="4370832"/>
            <a:ext cx="284378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我可以先做＿＿，也能找＿＿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FF6D4D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788152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本節帶走：把 SEL 能力轉成生活行動。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6D4D"/>
          </a:solidFill>
          <a:ln w="12700">
            <a:solidFill>
              <a:srgbClr val="FF6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6F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21  /  課程收束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學生最後帶走的不是答案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E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而是一套遇到變化時，可以重新選擇的能力。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2468880" cy="1920240"/>
          </a:xfrm>
          <a:prstGeom prst="rect">
            <a:avLst/>
          </a:prstGeom>
          <a:solidFill>
            <a:srgbClr val="B6FF00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22677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2633472"/>
            <a:ext cx="2066544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我知道自己正在感受什麼。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20440" y="2103120"/>
            <a:ext cx="246888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21608" y="22677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21608" y="2633472"/>
            <a:ext cx="2066544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我有安全的方法讓自己穩下來。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2468880" cy="1920240"/>
          </a:xfrm>
          <a:prstGeom prst="rect">
            <a:avLst/>
          </a:prstGeom>
          <a:solidFill>
            <a:srgbClr val="FF6D4D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4808" y="22677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64808" y="2633472"/>
            <a:ext cx="2066544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我知道可以找誰一起處理。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6840" y="2103120"/>
            <a:ext cx="2468880" cy="1920240"/>
          </a:xfrm>
          <a:prstGeom prst="rect">
            <a:avLst/>
          </a:prstGeom>
          <a:solidFill>
            <a:srgbClr val="DFF2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08008" y="22677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08008" y="2633472"/>
            <a:ext cx="2066544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我能先做下一個小步驟。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國小高年級SEL教學手冊（含情境小故事）</dc:title>
  <dc:subject>國小高年級 SEL 教學手冊</dc:subject>
  <dc:creator>仙姑凱西</dc:creator>
  <cp:lastModifiedBy>仙姑凱西</cp:lastModifiedBy>
  <cp:revision>1</cp:revision>
  <dcterms:created xsi:type="dcterms:W3CDTF">2026-09-04T15:00:40Z</dcterms:created>
  <dcterms:modified xsi:type="dcterms:W3CDTF">2026-09-04T15:00:40Z</dcterms:modified>
</cp:coreProperties>
</file>